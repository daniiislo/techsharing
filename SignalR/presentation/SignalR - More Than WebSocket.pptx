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ignalr_sha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ignalr_shar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75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21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1980" y="1028700"/>
            <a:ext cx="2345502" cy="293370"/>
            <a:chOff x="601980" y="1028700"/>
            <a:chExt cx="2345502" cy="29337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1028700"/>
              <a:ext cx="23455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Tech sharing · Geronimo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0550" y="1562100"/>
            <a:ext cx="4040505" cy="3105150"/>
            <a:chOff x="590550" y="1562100"/>
            <a:chExt cx="4040505" cy="3105150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1562100"/>
              <a:ext cx="4040505" cy="3105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SignalR —</a:t>
              </a:r>
              <a:br>
                <a:rPr lang="e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e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More Than</a:t>
              </a:r>
              <a:br>
                <a:rPr lang="e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e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WebSocket</a:t>
              </a:r>
            </a:p>
          </p:txBody>
        </p:sp>
      </p:grpSp>
      <p:grpSp>
        <p:nvGrpSpPr>
          <p:cNvPr id="7" name="hook"/>
          <p:cNvGrpSpPr/>
          <p:nvPr/>
        </p:nvGrpSpPr>
        <p:grpSpPr>
          <a:xfrm>
            <a:off x="595122" y="4559300"/>
            <a:ext cx="7310810" cy="557403"/>
            <a:chOff x="595122" y="4559300"/>
            <a:chExt cx="7310810" cy="557403"/>
          </a:xfrm>
        </p:grpSpPr>
        <p:sp>
          <p:nvSpPr>
            <p:cNvPr id="6" name="TextBox 6"/>
            <p:cNvSpPr txBox="1"/>
            <p:nvPr/>
          </p:nvSpPr>
          <p:spPr>
            <a:xfrm>
              <a:off x="595122" y="4559300"/>
              <a:ext cx="731081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i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click. Every screen. Who did the work?</a:t>
              </a:r>
            </a:p>
          </p:txBody>
        </p:sp>
      </p:grpSp>
      <p:grpSp>
        <p:nvGrpSpPr>
          <p:cNvPr id="10" name="presenter"/>
          <p:cNvGrpSpPr/>
          <p:nvPr/>
        </p:nvGrpSpPr>
        <p:grpSpPr>
          <a:xfrm>
            <a:off x="601218" y="5295900"/>
            <a:ext cx="7209282" cy="614807"/>
            <a:chOff x="601218" y="5295900"/>
            <a:chExt cx="7209282" cy="614807"/>
          </a:xfrm>
        </p:grpSpPr>
        <p:sp>
          <p:nvSpPr>
            <p:cNvPr id="8" name="Line 8"/>
            <p:cNvSpPr/>
            <p:nvPr/>
          </p:nvSpPr>
          <p:spPr>
            <a:xfrm>
              <a:off x="609600" y="529590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218" y="5588000"/>
              <a:ext cx="39587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Tavian Nguyen · Geronimo · 23/10/2026</a:t>
              </a:r>
            </a:p>
          </p:txBody>
        </p:sp>
      </p:grpSp>
      <p:grpSp>
        <p:nvGrpSpPr>
          <p:cNvPr id="18" name="browser-an"/>
          <p:cNvGrpSpPr/>
          <p:nvPr/>
        </p:nvGrpSpPr>
        <p:grpSpPr>
          <a:xfrm>
            <a:off x="8572500" y="1428750"/>
            <a:ext cx="3009900" cy="1657350"/>
            <a:chOff x="8572500" y="1428750"/>
            <a:chExt cx="3009900" cy="1657350"/>
          </a:xfrm>
        </p:grpSpPr>
        <p:sp>
          <p:nvSpPr>
            <p:cNvPr id="11" name="Rectangle 11"/>
            <p:cNvSpPr/>
            <p:nvPr/>
          </p:nvSpPr>
          <p:spPr>
            <a:xfrm>
              <a:off x="8572500" y="1428750"/>
              <a:ext cx="3009900" cy="1657350"/>
            </a:xfrm>
            <a:prstGeom prst="roundRect">
              <a:avLst>
                <a:gd name="adj" fmla="val 229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572500" y="1428750"/>
              <a:ext cx="30099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9754" y="1476375"/>
              <a:ext cx="413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Anna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56954" y="1489075"/>
              <a:ext cx="100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…/Item/1042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95004" y="1885950"/>
              <a:ext cx="1186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Current high bid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82050" y="2076450"/>
              <a:ext cx="159872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$1,300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93480" y="2705100"/>
              <a:ext cx="1567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 are winning</a:t>
              </a:r>
            </a:p>
          </p:txBody>
        </p:sp>
      </p:grpSp>
      <p:grpSp>
        <p:nvGrpSpPr>
          <p:cNvPr id="22" name="signalr-band"/>
          <p:cNvGrpSpPr/>
          <p:nvPr/>
        </p:nvGrpSpPr>
        <p:grpSpPr>
          <a:xfrm>
            <a:off x="8572500" y="3238500"/>
            <a:ext cx="3009900" cy="685800"/>
            <a:chOff x="8572500" y="3238500"/>
            <a:chExt cx="3009900" cy="685800"/>
          </a:xfrm>
        </p:grpSpPr>
        <p:sp>
          <p:nvSpPr>
            <p:cNvPr id="19" name="Rectangle 19"/>
            <p:cNvSpPr/>
            <p:nvPr/>
          </p:nvSpPr>
          <p:spPr>
            <a:xfrm>
              <a:off x="8572500" y="3238500"/>
              <a:ext cx="3009900" cy="685800"/>
            </a:xfrm>
            <a:prstGeom prst="roundRect">
              <a:avLst>
                <a:gd name="adj" fmla="val 5556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17280" y="3457575"/>
              <a:ext cx="742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07930" y="3470275"/>
              <a:ext cx="11321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updateItem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639300" y="3333750"/>
            <a:ext cx="342900" cy="49530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31" name="browser-binh"/>
          <p:cNvGrpSpPr/>
          <p:nvPr/>
        </p:nvGrpSpPr>
        <p:grpSpPr>
          <a:xfrm>
            <a:off x="8572500" y="4076700"/>
            <a:ext cx="3009900" cy="1657350"/>
            <a:chOff x="8572500" y="4076700"/>
            <a:chExt cx="3009900" cy="1657350"/>
          </a:xfrm>
        </p:grpSpPr>
        <p:sp>
          <p:nvSpPr>
            <p:cNvPr id="24" name="Rectangle 24"/>
            <p:cNvSpPr/>
            <p:nvPr/>
          </p:nvSpPr>
          <p:spPr>
            <a:xfrm>
              <a:off x="8572500" y="4076700"/>
              <a:ext cx="3009900" cy="1657350"/>
            </a:xfrm>
            <a:prstGeom prst="roundRect">
              <a:avLst>
                <a:gd name="adj" fmla="val 229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572500" y="4076700"/>
              <a:ext cx="30099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9754" y="4124325"/>
              <a:ext cx="306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61704" y="4137025"/>
              <a:ext cx="100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…/Item/1042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95004" y="4533900"/>
              <a:ext cx="1186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Current high bid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82050" y="4724400"/>
              <a:ext cx="159872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$1,300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93480" y="5353050"/>
              <a:ext cx="2104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You have been outbid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609600"/>
            <a:ext cx="7541391" cy="1000125"/>
            <a:chOff x="590550" y="609600"/>
            <a:chExt cx="7541391" cy="10001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609600"/>
              <a:ext cx="1231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moment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7541391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Anna clicks. Ben’s price changes.</a:t>
              </a:r>
            </a:p>
          </p:txBody>
        </p:sp>
      </p:grpSp>
      <p:grpSp>
        <p:nvGrpSpPr>
          <p:cNvPr id="25" name="moment"/>
          <p:cNvGrpSpPr/>
          <p:nvPr/>
        </p:nvGrpSpPr>
        <p:grpSpPr>
          <a:xfrm>
            <a:off x="652462" y="2051050"/>
            <a:ext cx="3961353" cy="3288157"/>
            <a:chOff x="652462" y="2051050"/>
            <a:chExt cx="3961353" cy="3288157"/>
          </a:xfrm>
        </p:grpSpPr>
        <p:grpSp>
          <p:nvGrpSpPr>
            <p:cNvPr id="13" name="Group 13"/>
            <p:cNvGrpSpPr/>
            <p:nvPr/>
          </p:nvGrpSpPr>
          <p:grpSpPr>
            <a:xfrm>
              <a:off x="652462" y="2066925"/>
              <a:ext cx="242888" cy="285755"/>
              <a:chOff x="652462" y="2066925"/>
              <a:chExt cx="242888" cy="28575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723900" y="2081212"/>
                <a:ext cx="4286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42875">
                    <a:moveTo>
                      <a:pt x="0" y="142875"/>
                    </a:move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cubicBezTo>
                      <a:pt x="33267" y="0"/>
                      <a:pt x="42862" y="9595"/>
                      <a:pt x="42862" y="21431"/>
                    </a:cubicBezTo>
                    <a:lnTo>
                      <a:pt x="42862" y="12858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66762" y="2152650"/>
                <a:ext cx="42862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57150">
                    <a:moveTo>
                      <a:pt x="0" y="50006"/>
                    </a:move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cubicBezTo>
                      <a:pt x="33267" y="0"/>
                      <a:pt x="42862" y="9595"/>
                      <a:pt x="42862" y="21431"/>
                    </a:cubicBezTo>
                    <a:lnTo>
                      <a:pt x="42862" y="5715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09625" y="2166938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9595"/>
                      <a:pt x="9595" y="0"/>
                      <a:pt x="21431" y="0"/>
                    </a:cubicBezTo>
                    <a:cubicBezTo>
                      <a:pt x="33267" y="0"/>
                      <a:pt x="42862" y="9595"/>
                      <a:pt x="42862" y="21431"/>
                    </a:cubicBezTo>
                    <a:lnTo>
                      <a:pt x="42862" y="42862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56973" y="2181225"/>
                <a:ext cx="238377" cy="171455"/>
              </a:xfrm>
              <a:custGeom>
                <a:avLst/>
                <a:gdLst/>
                <a:ahLst/>
                <a:cxnLst/>
                <a:rect l="l" t="t" r="r" b="b"/>
                <a:pathLst>
                  <a:path w="238377" h="171455">
                    <a:moveTo>
                      <a:pt x="195514" y="21431"/>
                    </a:moveTo>
                    <a:cubicBezTo>
                      <a:pt x="195514" y="9595"/>
                      <a:pt x="205109" y="0"/>
                      <a:pt x="216946" y="0"/>
                    </a:cubicBezTo>
                    <a:cubicBezTo>
                      <a:pt x="228782" y="0"/>
                      <a:pt x="238377" y="9595"/>
                      <a:pt x="238377" y="21431"/>
                    </a:cubicBezTo>
                    <a:lnTo>
                      <a:pt x="238377" y="85725"/>
                    </a:lnTo>
                    <a:cubicBezTo>
                      <a:pt x="238377" y="133070"/>
                      <a:pt x="199996" y="171450"/>
                      <a:pt x="152652" y="171450"/>
                    </a:cubicBezTo>
                    <a:lnTo>
                      <a:pt x="124077" y="171450"/>
                    </a:lnTo>
                    <a:lnTo>
                      <a:pt x="127049" y="171450"/>
                    </a:lnTo>
                    <a:cubicBezTo>
                      <a:pt x="98210" y="171455"/>
                      <a:pt x="71301" y="156959"/>
                      <a:pt x="55440" y="132874"/>
                    </a:cubicBezTo>
                    <a:lnTo>
                      <a:pt x="52639" y="128588"/>
                    </a:lnTo>
                    <a:cubicBezTo>
                      <a:pt x="48182" y="121744"/>
                      <a:pt x="32537" y="94469"/>
                      <a:pt x="5691" y="46749"/>
                    </a:cubicBezTo>
                    <a:cubicBezTo>
                      <a:pt x="0" y="36634"/>
                      <a:pt x="3395" y="23827"/>
                      <a:pt x="13349" y="17859"/>
                    </a:cubicBezTo>
                    <a:cubicBezTo>
                      <a:pt x="23840" y="11565"/>
                      <a:pt x="37268" y="13214"/>
                      <a:pt x="45924" y="21860"/>
                    </a:cubicBezTo>
                    <a:lnTo>
                      <a:pt x="66927" y="42862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66750" y="2066925"/>
                <a:ext cx="14288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14288">
                    <a:moveTo>
                      <a:pt x="14288" y="14288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52462" y="2138362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142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9625" y="2066925"/>
                <a:ext cx="14288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14288">
                    <a:moveTo>
                      <a:pt x="0" y="14288"/>
                    </a:moveTo>
                    <a:lnTo>
                      <a:pt x="14288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23912" y="212407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94232" y="2051050"/>
              <a:ext cx="22233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Anna</a:t>
              </a:r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bids $1,300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6518" y="2425700"/>
              <a:ext cx="34565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Item #12 · PLACE BID → CONFIRM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81050" y="2857500"/>
              <a:ext cx="1" cy="16002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lgDash"/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0422" y="3302000"/>
              <a:ext cx="267911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i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Who carried it?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6518" y="3797300"/>
              <a:ext cx="27154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refresh · no polling code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66750" y="4686300"/>
              <a:ext cx="228600" cy="228600"/>
              <a:chOff x="666750" y="4686300"/>
              <a:chExt cx="228600" cy="228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66750" y="47434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6750" y="4686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  <a:cubicBezTo>
                      <a:pt x="215807" y="0"/>
                      <a:pt x="228600" y="12793"/>
                      <a:pt x="228600" y="28575"/>
                    </a:cubicBezTo>
                    <a:lnTo>
                      <a:pt x="228600" y="200025"/>
                    </a:lnTo>
                    <a:cubicBezTo>
                      <a:pt x="228600" y="215807"/>
                      <a:pt x="215807" y="228600"/>
                      <a:pt x="200025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3900" y="46863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94232" y="4641850"/>
              <a:ext cx="2049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Ben</a:t>
              </a:r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sees $1,300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6518" y="5016500"/>
              <a:ext cx="35172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“You have been outbid” — instantly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5715000" y="1905000"/>
            <a:ext cx="9525" cy="4000500"/>
          </a:xfrm>
          <a:custGeom>
            <a:avLst/>
            <a:gdLst/>
            <a:ahLst/>
            <a:cxnLst/>
            <a:rect l="l" t="t" r="r" b="b"/>
            <a:pathLst>
              <a:path w="9525" h="4000500">
                <a:moveTo>
                  <a:pt x="0" y="0"/>
                </a:moveTo>
                <a:lnTo>
                  <a:pt x="0" y="400050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42" name="questions"/>
          <p:cNvGrpSpPr/>
          <p:nvPr/>
        </p:nvGrpSpPr>
        <p:grpSpPr>
          <a:xfrm>
            <a:off x="6076950" y="1847850"/>
            <a:ext cx="5505450" cy="3705225"/>
            <a:chOff x="6076950" y="1847850"/>
            <a:chExt cx="5505450" cy="3705225"/>
          </a:xfrm>
        </p:grpSpPr>
        <p:sp>
          <p:nvSpPr>
            <p:cNvPr id="27" name="TextBox 27"/>
            <p:cNvSpPr txBox="1"/>
            <p:nvPr/>
          </p:nvSpPr>
          <p:spPr>
            <a:xfrm>
              <a:off x="6088380" y="1847850"/>
              <a:ext cx="14237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Four questions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6076950" y="2305050"/>
              <a:ext cx="333444" cy="3248025"/>
              <a:chOff x="6076950" y="2305050"/>
              <a:chExt cx="333444" cy="324802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076950" y="2305050"/>
                <a:ext cx="333444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37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76950" y="3143250"/>
                <a:ext cx="333444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37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76950" y="3981450"/>
                <a:ext cx="333444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37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76950" y="4819650"/>
                <a:ext cx="333444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37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656832" y="2432050"/>
              <a:ext cx="4061174" cy="2925318"/>
              <a:chOff x="6656832" y="2432050"/>
              <a:chExt cx="4061174" cy="2925318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6656832" y="2432050"/>
                <a:ext cx="21084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What is SignalR?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656832" y="3270250"/>
                <a:ext cx="270695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What do we prepare?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56832" y="4108450"/>
                <a:ext cx="406117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How does Geronimo sync a bid?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656832" y="4946650"/>
                <a:ext cx="335614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Best practices: Do &amp; Avoid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096000" y="2971800"/>
              <a:ext cx="5486400" cy="1685925"/>
              <a:chOff x="6096000" y="2971800"/>
              <a:chExt cx="5486400" cy="1685925"/>
            </a:xfrm>
          </p:grpSpPr>
          <p:sp>
            <p:nvSpPr>
              <p:cNvPr id="38" name="Line 38"/>
              <p:cNvSpPr/>
              <p:nvPr/>
            </p:nvSpPr>
            <p:spPr>
              <a:xfrm>
                <a:off x="6096000" y="2971800"/>
                <a:ext cx="548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525">
                    <a:moveTo>
                      <a:pt x="0" y="0"/>
                    </a:moveTo>
                    <a:lnTo>
                      <a:pt x="5486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6096000" y="3810000"/>
                <a:ext cx="548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525">
                    <a:moveTo>
                      <a:pt x="0" y="0"/>
                    </a:moveTo>
                    <a:lnTo>
                      <a:pt x="5486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6096000" y="4648200"/>
                <a:ext cx="548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525">
                    <a:moveTo>
                      <a:pt x="0" y="0"/>
                    </a:moveTo>
                    <a:lnTo>
                      <a:pt x="5486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45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9490328" cy="1038225"/>
            <a:chOff x="590550" y="571500"/>
            <a:chExt cx="9490328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274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· What is SignalR?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9490328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Everything raw WebSocket leaves to you</a:t>
              </a:r>
            </a:p>
          </p:txBody>
        </p:sp>
      </p:grpSp>
      <p:grpSp>
        <p:nvGrpSpPr>
          <p:cNvPr id="35" name="ledger"/>
          <p:cNvGrpSpPr/>
          <p:nvPr/>
        </p:nvGrpSpPr>
        <p:grpSpPr>
          <a:xfrm>
            <a:off x="598932" y="1924050"/>
            <a:ext cx="10983468" cy="3966718"/>
            <a:chOff x="598932" y="1924050"/>
            <a:chExt cx="10983468" cy="3966718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924050"/>
              <a:ext cx="3167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With raw WebSocket you write…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69380" y="1924050"/>
              <a:ext cx="1884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 gives you…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26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98932" y="2432050"/>
              <a:ext cx="4822414" cy="3458718"/>
              <a:chOff x="598932" y="2432050"/>
              <a:chExt cx="4822414" cy="34587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98932" y="2432050"/>
                <a:ext cx="216970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reconnect loop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98932" y="3041650"/>
                <a:ext cx="482241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fallback when WebSocket is blocked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8932" y="3651250"/>
                <a:ext cx="318934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Our own message format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98932" y="4260850"/>
                <a:ext cx="371956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Request ↔ response matching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98932" y="4870450"/>
                <a:ext cx="424055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socket list and a broadcast loop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98932" y="5480050"/>
                <a:ext cx="269959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Sync between servers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91150" y="2590800"/>
              <a:ext cx="819150" cy="3048001"/>
              <a:chOff x="5391150" y="2590800"/>
              <a:chExt cx="819150" cy="3048001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5391150" y="25908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391150" y="32004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391150" y="38100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5391150" y="44196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5391150" y="50292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5391150" y="5638800"/>
                <a:ext cx="8191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6466332" y="2432050"/>
              <a:ext cx="4453562" cy="3458718"/>
              <a:chOff x="6466332" y="2432050"/>
              <a:chExt cx="4453562" cy="3458718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466332" y="2432050"/>
                <a:ext cx="33307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withAutomaticReconnect()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66332" y="3041650"/>
                <a:ext cx="410649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WebSockets › SSE › Long Polling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6332" y="3651250"/>
                <a:ext cx="44535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Hub Protocol: JSON · MessagePack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6332" y="4260850"/>
                <a:ext cx="290267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invoke() + invocationId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6332" y="4870450"/>
                <a:ext cx="397651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Clients.All · Caller · User · Group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66332" y="5480050"/>
                <a:ext cx="400892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Redis backplane · Azure SignalR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09600" y="2895600"/>
              <a:ext cx="10972800" cy="2447925"/>
              <a:chOff x="609600" y="2895600"/>
              <a:chExt cx="10972800" cy="2447925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609600" y="28956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609600" y="35052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609600" y="41148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609600" y="47244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609600" y="53340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38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7967700" cy="1038225"/>
            <a:chOff x="590550" y="571500"/>
            <a:chExt cx="7967700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274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· What is SignalR?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7967700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real-time library, not a transport</a:t>
              </a:r>
            </a:p>
          </p:txBody>
        </p:sp>
      </p:grpSp>
      <p:grpSp>
        <p:nvGrpSpPr>
          <p:cNvPr id="8" name="layer-code"/>
          <p:cNvGrpSpPr/>
          <p:nvPr/>
        </p:nvGrpSpPr>
        <p:grpSpPr>
          <a:xfrm>
            <a:off x="609600" y="1905000"/>
            <a:ext cx="8915400" cy="914400"/>
            <a:chOff x="609600" y="1905000"/>
            <a:chExt cx="8915400" cy="914400"/>
          </a:xfrm>
        </p:grpSpPr>
        <p:sp>
          <p:nvSpPr>
            <p:cNvPr id="5" name="Rectangle 5"/>
            <p:cNvSpPr/>
            <p:nvPr/>
          </p:nvSpPr>
          <p:spPr>
            <a:xfrm>
              <a:off x="609600" y="1905000"/>
              <a:ext cx="8915400" cy="914400"/>
            </a:xfrm>
            <a:prstGeom prst="roundRect">
              <a:avLst>
                <a:gd name="adj" fmla="val 4167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2000250"/>
              <a:ext cx="980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code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9432" y="2336800"/>
              <a:ext cx="57136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Hub methods · client handlers · business rules</a:t>
              </a:r>
            </a:p>
          </p:txBody>
        </p:sp>
      </p:grpSp>
      <p:grpSp>
        <p:nvGrpSpPr>
          <p:cNvPr id="25" name="layer-signalr"/>
          <p:cNvGrpSpPr/>
          <p:nvPr/>
        </p:nvGrpSpPr>
        <p:grpSpPr>
          <a:xfrm>
            <a:off x="609600" y="3009900"/>
            <a:ext cx="8915400" cy="1676400"/>
            <a:chOff x="609600" y="3009900"/>
            <a:chExt cx="8915400" cy="1676400"/>
          </a:xfrm>
        </p:grpSpPr>
        <p:sp>
          <p:nvSpPr>
            <p:cNvPr id="9" name="Rectangle 9"/>
            <p:cNvSpPr/>
            <p:nvPr/>
          </p:nvSpPr>
          <p:spPr>
            <a:xfrm>
              <a:off x="609600" y="3009900"/>
              <a:ext cx="8915400" cy="1676400"/>
            </a:xfrm>
            <a:prstGeom prst="roundRect">
              <a:avLst>
                <a:gd name="adj" fmla="val 2273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2480" y="3086100"/>
              <a:ext cx="742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00100" y="3409950"/>
              <a:ext cx="8610600" cy="1123950"/>
              <a:chOff x="800100" y="3409950"/>
              <a:chExt cx="8610600" cy="11239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800100" y="3409950"/>
                <a:ext cx="27051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619500" y="3409950"/>
                <a:ext cx="27051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515100" y="3409950"/>
                <a:ext cx="28956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800100" y="4038600"/>
                <a:ext cx="27051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619500" y="4038600"/>
                <a:ext cx="27051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515100" y="4038600"/>
                <a:ext cx="28956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1343263" y="3521075"/>
              <a:ext cx="7914813" cy="951357"/>
              <a:chOff x="1343263" y="3521075"/>
              <a:chExt cx="7914813" cy="951357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1343263" y="3521075"/>
                <a:ext cx="16187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HubConnection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26890" y="3521075"/>
                <a:ext cx="149032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Hub dispatch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844636" y="3521075"/>
                <a:ext cx="223652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HubLifetimeManager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03718" y="4149725"/>
                <a:ext cx="14978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Hub Protocol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10456" y="4149725"/>
                <a:ext cx="112318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Negotiate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724" y="4149725"/>
                <a:ext cx="259035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Keep-alive, reconnect</a:t>
                </a:r>
              </a:p>
            </p:txBody>
          </p:sp>
        </p:grpSp>
      </p:grpSp>
      <p:grpSp>
        <p:nvGrpSpPr>
          <p:cNvPr id="29" name="layer-transport"/>
          <p:cNvGrpSpPr/>
          <p:nvPr/>
        </p:nvGrpSpPr>
        <p:grpSpPr>
          <a:xfrm>
            <a:off x="609600" y="4876800"/>
            <a:ext cx="8915400" cy="914400"/>
            <a:chOff x="609600" y="4876800"/>
            <a:chExt cx="8915400" cy="914400"/>
          </a:xfrm>
        </p:grpSpPr>
        <p:sp>
          <p:nvSpPr>
            <p:cNvPr id="26" name="Rectangle 26"/>
            <p:cNvSpPr/>
            <p:nvPr/>
          </p:nvSpPr>
          <p:spPr>
            <a:xfrm>
              <a:off x="609600" y="4876800"/>
              <a:ext cx="8915400" cy="9144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2480" y="4972050"/>
              <a:ext cx="24875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Transport · picked for you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9432" y="5308600"/>
              <a:ext cx="59841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WebSockets › Server-Sent Events › Long Polling</a:t>
              </a:r>
            </a:p>
          </p:txBody>
        </p:sp>
      </p:grpSp>
      <p:grpSp>
        <p:nvGrpSpPr>
          <p:cNvPr id="34" name="margin-note"/>
          <p:cNvGrpSpPr/>
          <p:nvPr/>
        </p:nvGrpSpPr>
        <p:grpSpPr>
          <a:xfrm>
            <a:off x="9906000" y="1905000"/>
            <a:ext cx="1518481" cy="2933700"/>
            <a:chOff x="9906000" y="1905000"/>
            <a:chExt cx="1518481" cy="2933700"/>
          </a:xfrm>
        </p:grpSpPr>
        <p:sp>
          <p:nvSpPr>
            <p:cNvPr id="30" name="Line 30"/>
            <p:cNvSpPr/>
            <p:nvPr/>
          </p:nvSpPr>
          <p:spPr>
            <a:xfrm>
              <a:off x="9906000" y="19050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088880" y="1962150"/>
              <a:ext cx="1314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Where it lives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88118" y="2317750"/>
              <a:ext cx="1336363" cy="1179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into</a:t>
              </a:r>
              <a:b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ASP.NET Core:</a:t>
              </a:r>
              <a:b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AddSignalR()</a:t>
              </a:r>
              <a:b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MapHub()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88118" y="3708400"/>
              <a:ext cx="976524" cy="894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Clients:</a:t>
              </a:r>
              <a:b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JavaScript,</a:t>
              </a:r>
              <a:b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.NET, Java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6421063" cy="1038225"/>
            <a:chOff x="590550" y="571500"/>
            <a:chExt cx="6421063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274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· What is SignalR?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6421063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Six jobs you no longer write</a:t>
              </a:r>
            </a:p>
          </p:txBody>
        </p:sp>
      </p:grpSp>
      <p:grpSp>
        <p:nvGrpSpPr>
          <p:cNvPr id="12" name="job-negotiate"/>
          <p:cNvGrpSpPr/>
          <p:nvPr/>
        </p:nvGrpSpPr>
        <p:grpSpPr>
          <a:xfrm>
            <a:off x="595122" y="1905000"/>
            <a:ext cx="3443478" cy="1840357"/>
            <a:chOff x="595122" y="1905000"/>
            <a:chExt cx="3443478" cy="1840357"/>
          </a:xfrm>
        </p:grpSpPr>
        <p:sp>
          <p:nvSpPr>
            <p:cNvPr id="5" name="Line 5"/>
            <p:cNvSpPr/>
            <p:nvPr/>
          </p:nvSpPr>
          <p:spPr>
            <a:xfrm>
              <a:off x="609600" y="1905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657225" y="2162175"/>
              <a:ext cx="285751" cy="285751"/>
              <a:chOff x="657225" y="2162175"/>
              <a:chExt cx="285751" cy="28575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57225" y="238442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9476" y="2162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8975" y="219392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595122" y="2654300"/>
              <a:ext cx="17406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Negotiate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3136900"/>
              <a:ext cx="218669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Picks the best transport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both sides support</a:t>
              </a:r>
            </a:p>
          </p:txBody>
        </p:sp>
      </p:grpSp>
      <p:grpSp>
        <p:nvGrpSpPr>
          <p:cNvPr id="19" name="job-alive"/>
          <p:cNvGrpSpPr/>
          <p:nvPr/>
        </p:nvGrpSpPr>
        <p:grpSpPr>
          <a:xfrm>
            <a:off x="4252722" y="1905000"/>
            <a:ext cx="3443478" cy="1840357"/>
            <a:chOff x="4252722" y="1905000"/>
            <a:chExt cx="3443478" cy="1840357"/>
          </a:xfrm>
        </p:grpSpPr>
        <p:sp>
          <p:nvSpPr>
            <p:cNvPr id="13" name="Line 13"/>
            <p:cNvSpPr/>
            <p:nvPr/>
          </p:nvSpPr>
          <p:spPr>
            <a:xfrm>
              <a:off x="4267200" y="1905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314825" y="2162175"/>
              <a:ext cx="285751" cy="285751"/>
              <a:chOff x="4314825" y="2162175"/>
              <a:chExt cx="285751" cy="28575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314825" y="21621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457700" y="2225675"/>
                <a:ext cx="476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27000">
                    <a:moveTo>
                      <a:pt x="0" y="0"/>
                    </a:moveTo>
                    <a:lnTo>
                      <a:pt x="0" y="79375"/>
                    </a:lnTo>
                    <a:lnTo>
                      <a:pt x="47625" y="1270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252722" y="2654300"/>
              <a:ext cx="17207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Stay alive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58818" y="3136900"/>
              <a:ext cx="243587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Ping every 15 s; drop after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 s of silence</a:t>
              </a:r>
            </a:p>
          </p:txBody>
        </p:sp>
      </p:grpSp>
      <p:grpSp>
        <p:nvGrpSpPr>
          <p:cNvPr id="26" name="job-reconnect"/>
          <p:cNvGrpSpPr/>
          <p:nvPr/>
        </p:nvGrpSpPr>
        <p:grpSpPr>
          <a:xfrm>
            <a:off x="7910322" y="1905000"/>
            <a:ext cx="3672078" cy="1840357"/>
            <a:chOff x="7910322" y="1905000"/>
            <a:chExt cx="3672078" cy="1840357"/>
          </a:xfrm>
        </p:grpSpPr>
        <p:sp>
          <p:nvSpPr>
            <p:cNvPr id="20" name="Line 20"/>
            <p:cNvSpPr/>
            <p:nvPr/>
          </p:nvSpPr>
          <p:spPr>
            <a:xfrm>
              <a:off x="7924800" y="19050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988300" y="2171925"/>
              <a:ext cx="254001" cy="266250"/>
              <a:chOff x="7988300" y="2171925"/>
              <a:chExt cx="254001" cy="2662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988300" y="2171925"/>
                <a:ext cx="254001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17250">
                    <a:moveTo>
                      <a:pt x="254001" y="117250"/>
                    </a:moveTo>
                    <a:cubicBezTo>
                      <a:pt x="246020" y="59823"/>
                      <a:pt x="200595" y="14839"/>
                      <a:pt x="143092" y="7420"/>
                    </a:cubicBezTo>
                    <a:cubicBezTo>
                      <a:pt x="85590" y="0"/>
                      <a:pt x="30234" y="31980"/>
                      <a:pt x="7938" y="85500"/>
                    </a:cubicBezTo>
                    <a:moveTo>
                      <a:pt x="0" y="22000"/>
                    </a:moveTo>
                    <a:lnTo>
                      <a:pt x="0" y="85500"/>
                    </a:lnTo>
                    <a:lnTo>
                      <a:pt x="63500" y="85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988300" y="2320925"/>
                <a:ext cx="254001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17250">
                    <a:moveTo>
                      <a:pt x="0" y="0"/>
                    </a:moveTo>
                    <a:cubicBezTo>
                      <a:pt x="7981" y="57427"/>
                      <a:pt x="53406" y="102411"/>
                      <a:pt x="110908" y="109831"/>
                    </a:cubicBezTo>
                    <a:cubicBezTo>
                      <a:pt x="168411" y="117250"/>
                      <a:pt x="223766" y="85271"/>
                      <a:pt x="246063" y="31750"/>
                    </a:cubicBezTo>
                    <a:moveTo>
                      <a:pt x="254001" y="95250"/>
                    </a:moveTo>
                    <a:lnTo>
                      <a:pt x="254001" y="31750"/>
                    </a:lnTo>
                    <a:lnTo>
                      <a:pt x="19050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7910322" y="2654300"/>
              <a:ext cx="188163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Reconnect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16418" y="3136900"/>
              <a:ext cx="236332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Retries after 0, 2, 10, 30 s,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then gives up</a:t>
              </a:r>
            </a:p>
          </p:txBody>
        </p:sp>
      </p:grpSp>
      <p:grpSp>
        <p:nvGrpSpPr>
          <p:cNvPr id="37" name="job-rpc"/>
          <p:cNvGrpSpPr/>
          <p:nvPr/>
        </p:nvGrpSpPr>
        <p:grpSpPr>
          <a:xfrm>
            <a:off x="595122" y="4076700"/>
            <a:ext cx="3443478" cy="1840357"/>
            <a:chOff x="595122" y="4076700"/>
            <a:chExt cx="3443478" cy="1840357"/>
          </a:xfrm>
        </p:grpSpPr>
        <p:sp>
          <p:nvSpPr>
            <p:cNvPr id="27" name="Line 27"/>
            <p:cNvSpPr/>
            <p:nvPr/>
          </p:nvSpPr>
          <p:spPr>
            <a:xfrm>
              <a:off x="609600" y="40767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57225" y="4333875"/>
              <a:ext cx="285751" cy="285751"/>
              <a:chOff x="657225" y="4333875"/>
              <a:chExt cx="285751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76516" y="4476750"/>
                <a:ext cx="123585" cy="123585"/>
              </a:xfrm>
              <a:custGeom>
                <a:avLst/>
                <a:gdLst/>
                <a:ahLst/>
                <a:cxnLst/>
                <a:rect l="l" t="t" r="r" b="b"/>
                <a:pathLst>
                  <a:path w="123585" h="123585">
                    <a:moveTo>
                      <a:pt x="44209" y="0"/>
                    </a:moveTo>
                    <a:lnTo>
                      <a:pt x="123585" y="79375"/>
                    </a:lnTo>
                    <a:lnTo>
                      <a:pt x="99772" y="103188"/>
                    </a:lnTo>
                    <a:cubicBezTo>
                      <a:pt x="85672" y="117753"/>
                      <a:pt x="64814" y="123585"/>
                      <a:pt x="45205" y="118444"/>
                    </a:cubicBezTo>
                    <a:cubicBezTo>
                      <a:pt x="25596" y="113303"/>
                      <a:pt x="10281" y="97989"/>
                      <a:pt x="5141" y="78379"/>
                    </a:cubicBezTo>
                    <a:cubicBezTo>
                      <a:pt x="0" y="58770"/>
                      <a:pt x="5831" y="37912"/>
                      <a:pt x="20397" y="23813"/>
                    </a:cubicBezTo>
                    <a:lnTo>
                      <a:pt x="44209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0100" y="4353166"/>
                <a:ext cx="123585" cy="123585"/>
              </a:xfrm>
              <a:custGeom>
                <a:avLst/>
                <a:gdLst/>
                <a:ahLst/>
                <a:cxnLst/>
                <a:rect l="l" t="t" r="r" b="b"/>
                <a:pathLst>
                  <a:path w="123585" h="123585">
                    <a:moveTo>
                      <a:pt x="79375" y="123585"/>
                    </a:moveTo>
                    <a:lnTo>
                      <a:pt x="0" y="44209"/>
                    </a:lnTo>
                    <a:lnTo>
                      <a:pt x="23813" y="20397"/>
                    </a:lnTo>
                    <a:cubicBezTo>
                      <a:pt x="37912" y="5831"/>
                      <a:pt x="58770" y="0"/>
                      <a:pt x="78379" y="5141"/>
                    </a:cubicBezTo>
                    <a:cubicBezTo>
                      <a:pt x="97989" y="10281"/>
                      <a:pt x="113303" y="25596"/>
                      <a:pt x="118444" y="45205"/>
                    </a:cubicBezTo>
                    <a:cubicBezTo>
                      <a:pt x="123585" y="64814"/>
                      <a:pt x="117753" y="85672"/>
                      <a:pt x="103188" y="99772"/>
                    </a:cubicBezTo>
                    <a:lnTo>
                      <a:pt x="79375" y="12358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57225" y="4579938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39688"/>
                    </a:moveTo>
                    <a:lnTo>
                      <a:pt x="39688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03288" y="4333875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39688"/>
                    </a:moveTo>
                    <a:lnTo>
                      <a:pt x="39688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36600" y="44608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3175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84225" y="45085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3175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595122" y="4826000"/>
              <a:ext cx="27564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RPC both ways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218" y="5308600"/>
              <a:ext cx="220358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invoke()</a:t>
              </a: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to the server,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on()</a:t>
              </a: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from the server</a:t>
              </a:r>
            </a:p>
          </p:txBody>
        </p:sp>
      </p:grpSp>
      <p:grpSp>
        <p:nvGrpSpPr>
          <p:cNvPr id="46" name="job-targeting"/>
          <p:cNvGrpSpPr/>
          <p:nvPr/>
        </p:nvGrpSpPr>
        <p:grpSpPr>
          <a:xfrm>
            <a:off x="4252722" y="4076700"/>
            <a:ext cx="3443478" cy="1840357"/>
            <a:chOff x="4252722" y="4076700"/>
            <a:chExt cx="3443478" cy="1840357"/>
          </a:xfrm>
        </p:grpSpPr>
        <p:sp>
          <p:nvSpPr>
            <p:cNvPr id="38" name="Line 38"/>
            <p:cNvSpPr/>
            <p:nvPr/>
          </p:nvSpPr>
          <p:spPr>
            <a:xfrm>
              <a:off x="4267200" y="40767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4314825" y="4333875"/>
              <a:ext cx="285751" cy="285751"/>
              <a:chOff x="4314825" y="4333875"/>
              <a:chExt cx="285751" cy="28575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346575" y="43338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314825" y="45243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521201" y="433593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552951" y="452675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4252722" y="4826000"/>
              <a:ext cx="17492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Targeting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58818" y="5308600"/>
              <a:ext cx="171313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All · Caller · Others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User · Group</a:t>
              </a:r>
            </a:p>
          </p:txBody>
        </p:sp>
      </p:grpSp>
      <p:grpSp>
        <p:nvGrpSpPr>
          <p:cNvPr id="54" name="job-scale"/>
          <p:cNvGrpSpPr/>
          <p:nvPr/>
        </p:nvGrpSpPr>
        <p:grpSpPr>
          <a:xfrm>
            <a:off x="7910322" y="4076700"/>
            <a:ext cx="3672078" cy="1840357"/>
            <a:chOff x="7910322" y="4076700"/>
            <a:chExt cx="3672078" cy="1840357"/>
          </a:xfrm>
        </p:grpSpPr>
        <p:sp>
          <p:nvSpPr>
            <p:cNvPr id="47" name="Line 47"/>
            <p:cNvSpPr/>
            <p:nvPr/>
          </p:nvSpPr>
          <p:spPr>
            <a:xfrm>
              <a:off x="7924800" y="40767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988300" y="4349750"/>
              <a:ext cx="254001" cy="254001"/>
              <a:chOff x="7988300" y="4349750"/>
              <a:chExt cx="254001" cy="25400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988300" y="4349750"/>
                <a:ext cx="25400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27000">
                    <a:moveTo>
                      <a:pt x="127000" y="0"/>
                    </a:moveTo>
                    <a:lnTo>
                      <a:pt x="0" y="63500"/>
                    </a:lnTo>
                    <a:lnTo>
                      <a:pt x="127000" y="127000"/>
                    </a:lnTo>
                    <a:lnTo>
                      <a:pt x="254001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988300" y="4476750"/>
                <a:ext cx="25400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988300" y="4540251"/>
                <a:ext cx="25400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910322" y="4826000"/>
              <a:ext cx="16681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Scale-out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16418" y="5308600"/>
              <a:ext cx="2000553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Redis backplane or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Azure SignalR Service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8930515" cy="1038225"/>
            <a:chOff x="590550" y="571500"/>
            <a:chExt cx="8930515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274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· What is SignalR?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8930515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Reach for it when both sides talk, often</a:t>
              </a:r>
            </a:p>
          </p:txBody>
        </p:sp>
      </p:grpSp>
      <p:grpSp>
        <p:nvGrpSpPr>
          <p:cNvPr id="59" name="when-to-use"/>
          <p:cNvGrpSpPr/>
          <p:nvPr/>
        </p:nvGrpSpPr>
        <p:grpSpPr>
          <a:xfrm>
            <a:off x="609600" y="1866900"/>
            <a:ext cx="10972800" cy="4200525"/>
            <a:chOff x="609600" y="1866900"/>
            <a:chExt cx="10972800" cy="4200525"/>
          </a:xfrm>
        </p:grpSpPr>
        <p:sp>
          <p:nvSpPr>
            <p:cNvPr id="5" name="Rectangle 5"/>
            <p:cNvSpPr/>
            <p:nvPr/>
          </p:nvSpPr>
          <p:spPr>
            <a:xfrm>
              <a:off x="8001000" y="1866900"/>
              <a:ext cx="1790700" cy="4191000"/>
            </a:xfrm>
            <a:prstGeom prst="rect">
              <a:avLst/>
            </a:prstGeom>
            <a:solidFill>
              <a:srgbClr val="F1EBFD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772918" y="1997075"/>
              <a:ext cx="8654134" cy="322707"/>
              <a:chOff x="2772918" y="1997075"/>
              <a:chExt cx="8654134" cy="32270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2772918" y="1997075"/>
                <a:ext cx="7562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Polling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563618" y="1997075"/>
                <a:ext cx="4047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SSE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354318" y="1997075"/>
                <a:ext cx="17223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Raw WebSocket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45018" y="1997075"/>
                <a:ext cx="8166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SignalR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935718" y="1997075"/>
                <a:ext cx="149133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Azure SignalR</a:t>
                </a:r>
              </a:p>
            </p:txBody>
          </p:sp>
        </p:grpSp>
        <p:sp>
          <p:nvSpPr>
            <p:cNvPr id="12" name="Line 12"/>
            <p:cNvSpPr/>
            <p:nvPr/>
          </p:nvSpPr>
          <p:spPr>
            <a:xfrm>
              <a:off x="609600" y="240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53618" y="2568575"/>
              <a:ext cx="1884190" cy="3370707"/>
              <a:chOff x="753618" y="2568575"/>
              <a:chExt cx="1884190" cy="3370707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53618" y="2568575"/>
                <a:ext cx="9747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Two-way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3618" y="3178175"/>
                <a:ext cx="87212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Fallback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3618" y="3787775"/>
                <a:ext cx="163082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Auto reconnect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3618" y="4397375"/>
                <a:ext cx="18841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Fan-out &amp; groups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3618" y="5006975"/>
                <a:ext cx="13080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Multi-server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3618" y="5616575"/>
                <a:ext cx="7655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Best fit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2772918" y="2568575"/>
              <a:ext cx="8755956" cy="3370707"/>
              <a:chOff x="2772918" y="2568575"/>
              <a:chExt cx="8755956" cy="3370707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2772918" y="2568575"/>
                <a:ext cx="129248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Request only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63618" y="2568575"/>
                <a:ext cx="14056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Server → client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54318" y="2568575"/>
                <a:ext cx="3562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Yes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935718" y="2568575"/>
                <a:ext cx="8853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Yes, RPC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72918" y="3178175"/>
                <a:ext cx="16461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Works anywhere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63618" y="3178175"/>
                <a:ext cx="10376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HTTP only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354318" y="3178175"/>
                <a:ext cx="742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 it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35718" y="3178175"/>
                <a:ext cx="698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Built in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772918" y="3787775"/>
                <a:ext cx="91176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Next poll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63618" y="3787775"/>
                <a:ext cx="698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Built in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354318" y="3787775"/>
                <a:ext cx="742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 it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935718" y="3787775"/>
                <a:ext cx="698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Built in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772918" y="4397375"/>
                <a:ext cx="742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 it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63618" y="4397375"/>
                <a:ext cx="742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 it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354318" y="4397375"/>
                <a:ext cx="742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 it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935718" y="4397375"/>
                <a:ext cx="15179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All/User/Group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772918" y="5006975"/>
                <a:ext cx="12579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Shared store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563618" y="5006975"/>
                <a:ext cx="136499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Your pub/sub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354318" y="5006975"/>
                <a:ext cx="136499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Your pub/sub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935718" y="5006975"/>
                <a:ext cx="9532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Managed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772918" y="5616575"/>
                <a:ext cx="130929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Rare updates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63618" y="5616575"/>
                <a:ext cx="9915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Live feeds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354318" y="5616575"/>
                <a:ext cx="166836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Custom protocol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935718" y="5616575"/>
                <a:ext cx="15931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Same, managed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145018" y="2568575"/>
              <a:ext cx="1749167" cy="3370707"/>
              <a:chOff x="8145018" y="2568575"/>
              <a:chExt cx="1749167" cy="3370707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8145018" y="2568575"/>
                <a:ext cx="8853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Yes, RPC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145018" y="3178175"/>
                <a:ext cx="698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Built in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145018" y="3787775"/>
                <a:ext cx="698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Built in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145018" y="4397375"/>
                <a:ext cx="15179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All/User/Group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45018" y="5006975"/>
                <a:ext cx="16077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Redis backplane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145018" y="5616575"/>
                <a:ext cx="17491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Two-way on .NET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09600" y="3009900"/>
              <a:ext cx="10972800" cy="3057525"/>
              <a:chOff x="609600" y="3009900"/>
              <a:chExt cx="10972800" cy="3057525"/>
            </a:xfrm>
          </p:grpSpPr>
          <p:sp>
            <p:nvSpPr>
              <p:cNvPr id="52" name="Line 52"/>
              <p:cNvSpPr/>
              <p:nvPr/>
            </p:nvSpPr>
            <p:spPr>
              <a:xfrm>
                <a:off x="609600" y="30099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609600" y="36195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609600" y="42291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609600" y="48387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609600" y="54483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609600" y="60579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62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60" name="TextBox 60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7651475" cy="1038225"/>
            <a:chOff x="590550" y="571500"/>
            <a:chExt cx="7651475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796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 · What do we prepare?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7651475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Before the first hub: six decisions</a:t>
              </a:r>
            </a:p>
          </p:txBody>
        </p:sp>
      </p:grpSp>
      <p:grpSp>
        <p:nvGrpSpPr>
          <p:cNvPr id="32" name="steps"/>
          <p:cNvGrpSpPr/>
          <p:nvPr/>
        </p:nvGrpSpPr>
        <p:grpSpPr>
          <a:xfrm>
            <a:off x="595122" y="1968500"/>
            <a:ext cx="8548878" cy="3986403"/>
            <a:chOff x="595122" y="1968500"/>
            <a:chExt cx="8548878" cy="3986403"/>
          </a:xfrm>
        </p:grpSpPr>
        <p:grpSp>
          <p:nvGrpSpPr>
            <p:cNvPr id="11" name="Group 11"/>
            <p:cNvGrpSpPr/>
            <p:nvPr/>
          </p:nvGrpSpPr>
          <p:grpSpPr>
            <a:xfrm>
              <a:off x="595122" y="1968500"/>
              <a:ext cx="253417" cy="3986403"/>
              <a:chOff x="595122" y="1968500"/>
              <a:chExt cx="253417" cy="3986403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95122" y="19685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595122" y="26543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95122" y="33401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95122" y="40259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95122" y="47117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5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5122" y="5397500"/>
                <a:ext cx="25341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85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6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56132" y="2051050"/>
              <a:ext cx="1862525" cy="3839718"/>
              <a:chOff x="1056132" y="2051050"/>
              <a:chExt cx="1862525" cy="383971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056132" y="2051050"/>
                <a:ext cx="87187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Server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56132" y="2736850"/>
                <a:ext cx="155053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Hub design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56132" y="3422650"/>
                <a:ext cx="79970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Client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56132" y="4108450"/>
                <a:ext cx="106980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Identity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56132" y="4794250"/>
                <a:ext cx="186252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Infrastructure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56132" y="5480050"/>
                <a:ext cx="82741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Limits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230118" y="2092325"/>
              <a:ext cx="5624799" cy="3751707"/>
              <a:chOff x="3230118" y="2092325"/>
              <a:chExt cx="5624799" cy="3751707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3230118" y="2092325"/>
                <a:ext cx="427987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AddSignalR() + MapHub&lt;T&gt;()</a:t>
                </a:r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 xml:space="preserve"> — built in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230118" y="2778125"/>
                <a:ext cx="50829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Methods are public API; event names are a contract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30118" y="3463925"/>
                <a:ext cx="50911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@microsoft/signalr</a:t>
                </a:r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 xml:space="preserve"> + withAutomaticReconnect()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230118" y="4149725"/>
                <a:ext cx="412272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[Authorize]</a:t>
                </a:r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, read Context.UserIdentifier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230118" y="4835525"/>
                <a:ext cx="528654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Proxy passes WebSockets · sticky sessions · backplane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230118" y="5521325"/>
                <a:ext cx="562479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Timeouts · 32 KB max message · groups planned up front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09600" y="2590800"/>
              <a:ext cx="8534400" cy="2752725"/>
              <a:chOff x="609600" y="2590800"/>
              <a:chExt cx="8534400" cy="2752725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609600" y="2590800"/>
                <a:ext cx="853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34400" h="9525">
                    <a:moveTo>
                      <a:pt x="0" y="0"/>
                    </a:moveTo>
                    <a:lnTo>
                      <a:pt x="8534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609600" y="3276600"/>
                <a:ext cx="853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34400" h="9525">
                    <a:moveTo>
                      <a:pt x="0" y="0"/>
                    </a:moveTo>
                    <a:lnTo>
                      <a:pt x="8534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609600" y="3962400"/>
                <a:ext cx="853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34400" h="9525">
                    <a:moveTo>
                      <a:pt x="0" y="0"/>
                    </a:moveTo>
                    <a:lnTo>
                      <a:pt x="8534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609600" y="4648200"/>
                <a:ext cx="853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34400" h="9525">
                    <a:moveTo>
                      <a:pt x="0" y="0"/>
                    </a:moveTo>
                    <a:lnTo>
                      <a:pt x="8534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609600" y="5334000"/>
                <a:ext cx="8534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34400" h="9525">
                    <a:moveTo>
                      <a:pt x="0" y="0"/>
                    </a:moveTo>
                    <a:lnTo>
                      <a:pt x="8534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37" name="pull-quote"/>
          <p:cNvGrpSpPr/>
          <p:nvPr/>
        </p:nvGrpSpPr>
        <p:grpSpPr>
          <a:xfrm>
            <a:off x="9410700" y="1905000"/>
            <a:ext cx="1929514" cy="3810000"/>
            <a:chOff x="9410700" y="1905000"/>
            <a:chExt cx="1929514" cy="3810000"/>
          </a:xfrm>
        </p:grpSpPr>
        <p:sp>
          <p:nvSpPr>
            <p:cNvPr id="33" name="Line 33"/>
            <p:cNvSpPr/>
            <p:nvPr/>
          </p:nvSpPr>
          <p:spPr>
            <a:xfrm>
              <a:off x="9410700" y="1905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93580" y="1962150"/>
              <a:ext cx="7959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Mindset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86722" y="2413000"/>
              <a:ext cx="1223355" cy="1433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hub is</a:t>
              </a:r>
              <a:b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public</a:t>
              </a:r>
              <a:b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API.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92818" y="3975100"/>
              <a:ext cx="1747396" cy="11799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Anyone connected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can call any public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method, with any</a:t>
              </a:r>
              <a:b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arguments.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7300156" cy="1038225"/>
            <a:chOff x="590550" y="571500"/>
            <a:chExt cx="7300156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40127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· How does Geronimo sync a bid?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7300156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Two hubs, one Redis backplane</a:t>
              </a:r>
            </a:p>
          </p:txBody>
        </p:sp>
      </p:grpSp>
      <p:grpSp>
        <p:nvGrpSpPr>
          <p:cNvPr id="13" name="page-item"/>
          <p:cNvGrpSpPr/>
          <p:nvPr/>
        </p:nvGrpSpPr>
        <p:grpSpPr>
          <a:xfrm>
            <a:off x="609600" y="2095500"/>
            <a:ext cx="2667000" cy="1143000"/>
            <a:chOff x="609600" y="2095500"/>
            <a:chExt cx="2667000" cy="1143000"/>
          </a:xfrm>
        </p:grpSpPr>
        <p:sp>
          <p:nvSpPr>
            <p:cNvPr id="5" name="Rectangle 5"/>
            <p:cNvSpPr/>
            <p:nvPr/>
          </p:nvSpPr>
          <p:spPr>
            <a:xfrm>
              <a:off x="609600" y="2095500"/>
              <a:ext cx="2667000" cy="11430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06450" y="2273300"/>
              <a:ext cx="177801" cy="177801"/>
              <a:chOff x="806450" y="2273300"/>
              <a:chExt cx="177801" cy="177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06450" y="2317750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06450" y="2273300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55575" y="0"/>
                    </a:lnTo>
                    <a:cubicBezTo>
                      <a:pt x="167850" y="0"/>
                      <a:pt x="177801" y="9950"/>
                      <a:pt x="177801" y="22225"/>
                    </a:cubicBezTo>
                    <a:lnTo>
                      <a:pt x="177801" y="155575"/>
                    </a:lnTo>
                    <a:cubicBezTo>
                      <a:pt x="177801" y="167850"/>
                      <a:pt x="167850" y="177801"/>
                      <a:pt x="155575" y="177801"/>
                    </a:cubicBez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50900" y="22733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113282" y="2184400"/>
              <a:ext cx="13757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Item page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2578100"/>
              <a:ext cx="1246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itemBid.js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3618" y="2863850"/>
              <a:ext cx="871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/bidhub</a:t>
              </a:r>
            </a:p>
          </p:txBody>
        </p:sp>
      </p:grpSp>
      <p:grpSp>
        <p:nvGrpSpPr>
          <p:cNvPr id="22" name="page-event"/>
          <p:cNvGrpSpPr/>
          <p:nvPr/>
        </p:nvGrpSpPr>
        <p:grpSpPr>
          <a:xfrm>
            <a:off x="609600" y="3619500"/>
            <a:ext cx="2667000" cy="1143000"/>
            <a:chOff x="609600" y="3619500"/>
            <a:chExt cx="2667000" cy="1143000"/>
          </a:xfrm>
        </p:grpSpPr>
        <p:sp>
          <p:nvSpPr>
            <p:cNvPr id="14" name="Rectangle 14"/>
            <p:cNvSpPr/>
            <p:nvPr/>
          </p:nvSpPr>
          <p:spPr>
            <a:xfrm>
              <a:off x="609600" y="3619500"/>
              <a:ext cx="2667000" cy="11430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06450" y="3797300"/>
              <a:ext cx="177801" cy="177801"/>
              <a:chOff x="806450" y="3797300"/>
              <a:chExt cx="177801" cy="17780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06450" y="3841750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6450" y="3797300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55575" y="0"/>
                    </a:lnTo>
                    <a:cubicBezTo>
                      <a:pt x="167850" y="0"/>
                      <a:pt x="177801" y="9950"/>
                      <a:pt x="177801" y="22225"/>
                    </a:cubicBezTo>
                    <a:lnTo>
                      <a:pt x="177801" y="155575"/>
                    </a:lnTo>
                    <a:cubicBezTo>
                      <a:pt x="177801" y="167850"/>
                      <a:pt x="167850" y="177801"/>
                      <a:pt x="155575" y="177801"/>
                    </a:cubicBez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50900" y="37973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13282" y="3708400"/>
              <a:ext cx="15016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Event page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3618" y="4102100"/>
              <a:ext cx="22304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eventBidUpdates.js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618" y="4387850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/bidhub + /eventhub</a:t>
              </a:r>
            </a:p>
          </p:txBody>
        </p:sp>
      </p:grpSp>
      <p:grpSp>
        <p:nvGrpSpPr>
          <p:cNvPr id="25" name="links-browsers"/>
          <p:cNvGrpSpPr/>
          <p:nvPr/>
        </p:nvGrpSpPr>
        <p:grpSpPr>
          <a:xfrm>
            <a:off x="3314700" y="2667000"/>
            <a:ext cx="1066800" cy="1532878"/>
            <a:chOff x="3314700" y="2667000"/>
            <a:chExt cx="1066800" cy="1532878"/>
          </a:xfrm>
        </p:grpSpPr>
        <p:sp>
          <p:nvSpPr>
            <p:cNvPr id="23" name="Line 23"/>
            <p:cNvSpPr/>
            <p:nvPr/>
          </p:nvSpPr>
          <p:spPr>
            <a:xfrm>
              <a:off x="3314700" y="2667000"/>
              <a:ext cx="10668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lgDash"/>
              <a:headEnd type="triangle" w="lg" len="lg"/>
              <a:tailEnd type="triangle" w="lg" len="lg"/>
            </a:ln>
          </p:spPr>
        </p:sp>
        <p:sp>
          <p:nvSpPr>
            <p:cNvPr id="24" name="Line 24"/>
            <p:cNvSpPr/>
            <p:nvPr/>
          </p:nvSpPr>
          <p:spPr>
            <a:xfrm>
              <a:off x="3314700" y="4199877"/>
              <a:ext cx="10668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lgDash"/>
              <a:headEnd type="triangle" w="lg" len="lg"/>
              <a:tailEnd type="triangle" w="lg" len="lg"/>
            </a:ln>
          </p:spPr>
        </p:sp>
      </p:grpSp>
      <p:grpSp>
        <p:nvGrpSpPr>
          <p:cNvPr id="49" name="server"/>
          <p:cNvGrpSpPr/>
          <p:nvPr/>
        </p:nvGrpSpPr>
        <p:grpSpPr>
          <a:xfrm>
            <a:off x="4191000" y="1809750"/>
            <a:ext cx="5334000" cy="4191000"/>
            <a:chOff x="4191000" y="1809750"/>
            <a:chExt cx="5334000" cy="4191000"/>
          </a:xfrm>
        </p:grpSpPr>
        <p:sp>
          <p:nvSpPr>
            <p:cNvPr id="26" name="Rectangle 26"/>
            <p:cNvSpPr/>
            <p:nvPr/>
          </p:nvSpPr>
          <p:spPr>
            <a:xfrm>
              <a:off x="4191000" y="1809750"/>
              <a:ext cx="5334000" cy="4191000"/>
            </a:xfrm>
            <a:prstGeom prst="roundRect">
              <a:avLst>
                <a:gd name="adj" fmla="val 909"/>
              </a:avLst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11980" y="1905000"/>
              <a:ext cx="2010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ASP.NET Core server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19600" y="2247900"/>
              <a:ext cx="2819400" cy="16764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01718" y="2349500"/>
              <a:ext cx="1743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BidHub </a:t>
              </a:r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/bidhub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1718" y="2673350"/>
              <a:ext cx="20329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in: AddBid · AddBids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1718" y="2978150"/>
              <a:ext cx="15971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out: updateItem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58918" y="3263900"/>
              <a:ext cx="12505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updateEvent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58918" y="3549650"/>
              <a:ext cx="1975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addBidSuccess · Fail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391400" y="2247900"/>
              <a:ext cx="1905000" cy="16764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54468" y="2349500"/>
              <a:ext cx="10079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EventHub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4468" y="2635250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/eventhub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4468" y="2978150"/>
              <a:ext cx="16310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out: closeItem(s)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92618" y="3263900"/>
              <a:ext cx="1055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closeEvent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391400" y="4305300"/>
              <a:ext cx="1905000" cy="914400"/>
            </a:xfrm>
            <a:prstGeom prst="roundRect">
              <a:avLst>
                <a:gd name="adj" fmla="val 4167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591425" y="4448175"/>
              <a:ext cx="171450" cy="171450"/>
              <a:chOff x="7591425" y="4448175"/>
              <a:chExt cx="171450" cy="1714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591425" y="44481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677150" y="4486275"/>
                <a:ext cx="285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76200">
                    <a:moveTo>
                      <a:pt x="0" y="0"/>
                    </a:moveTo>
                    <a:lnTo>
                      <a:pt x="0" y="47625"/>
                    </a:lnTo>
                    <a:lnTo>
                      <a:pt x="28575" y="762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859268" y="4406900"/>
              <a:ext cx="1059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Jobs push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54468" y="4768850"/>
              <a:ext cx="13813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IHubContext</a:t>
              </a:r>
            </a:p>
          </p:txBody>
        </p:sp>
        <p:sp>
          <p:nvSpPr>
            <p:cNvPr id="45" name="Line 45"/>
            <p:cNvSpPr/>
            <p:nvPr/>
          </p:nvSpPr>
          <p:spPr>
            <a:xfrm flipV="1">
              <a:off x="8343900" y="3981450"/>
              <a:ext cx="1" cy="3048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419600" y="5410200"/>
              <a:ext cx="4876800" cy="457200"/>
            </a:xfrm>
            <a:prstGeom prst="roundRect">
              <a:avLst>
                <a:gd name="adj" fmla="val 8333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602480" y="5514975"/>
              <a:ext cx="1553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 runtime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78880" y="5527675"/>
              <a:ext cx="25971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AddStackExchangeRedis()</a:t>
              </a:r>
            </a:p>
          </p:txBody>
        </p:sp>
      </p:grpSp>
      <p:grpSp>
        <p:nvGrpSpPr>
          <p:cNvPr id="58" name="redis"/>
          <p:cNvGrpSpPr/>
          <p:nvPr/>
        </p:nvGrpSpPr>
        <p:grpSpPr>
          <a:xfrm>
            <a:off x="9334500" y="5334000"/>
            <a:ext cx="2247900" cy="609600"/>
            <a:chOff x="9334500" y="5334000"/>
            <a:chExt cx="2247900" cy="609600"/>
          </a:xfrm>
        </p:grpSpPr>
        <p:sp>
          <p:nvSpPr>
            <p:cNvPr id="50" name="Line 50"/>
            <p:cNvSpPr/>
            <p:nvPr/>
          </p:nvSpPr>
          <p:spPr>
            <a:xfrm>
              <a:off x="9334500" y="56388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906000" y="5334000"/>
              <a:ext cx="1676400" cy="609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10058400" y="5476875"/>
              <a:ext cx="152400" cy="171450"/>
              <a:chOff x="10058400" y="5476875"/>
              <a:chExt cx="152400" cy="1714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0058400" y="547687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0058400" y="55054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058400" y="55626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317480" y="5429250"/>
              <a:ext cx="53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Redis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14204" y="5695950"/>
              <a:ext cx="1066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↔ other servers</a:t>
              </a:r>
            </a:p>
          </p:txBody>
        </p:sp>
      </p:grpSp>
      <p:grpSp>
        <p:nvGrpSpPr>
          <p:cNvPr id="65" name="legend"/>
          <p:cNvGrpSpPr/>
          <p:nvPr/>
        </p:nvGrpSpPr>
        <p:grpSpPr>
          <a:xfrm>
            <a:off x="9906000" y="2124075"/>
            <a:ext cx="1679362" cy="1055370"/>
            <a:chOff x="9906000" y="2124075"/>
            <a:chExt cx="1679362" cy="1055370"/>
          </a:xfrm>
        </p:grpSpPr>
        <p:sp>
          <p:nvSpPr>
            <p:cNvPr id="59" name="Rectangle 59"/>
            <p:cNvSpPr/>
            <p:nvPr/>
          </p:nvSpPr>
          <p:spPr>
            <a:xfrm>
              <a:off x="9906000" y="2152650"/>
              <a:ext cx="190500" cy="190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184130" y="2124075"/>
              <a:ext cx="1401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Geronimo code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906000" y="2533650"/>
              <a:ext cx="190500" cy="190500"/>
            </a:xfrm>
            <a:prstGeom prst="roundRect">
              <a:avLst>
                <a:gd name="adj" fmla="val 10000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266667" sp="200000"/>
              </a:custDash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184130" y="2505075"/>
              <a:ext cx="687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906000" y="30099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lgDash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184130" y="2886075"/>
              <a:ext cx="10341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7991879" cy="1038225"/>
            <a:chOff x="590550" y="571500"/>
            <a:chExt cx="7991879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5092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· How does Geronimo sync a bid? · Phase 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7991879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Two lines, then SignalR takes over</a:t>
              </a:r>
            </a:p>
          </p:txBody>
        </p:sp>
      </p:grpSp>
      <p:grpSp>
        <p:nvGrpSpPr>
          <p:cNvPr id="17" name="geronimo-code"/>
          <p:cNvGrpSpPr/>
          <p:nvPr/>
        </p:nvGrpSpPr>
        <p:grpSpPr>
          <a:xfrm>
            <a:off x="609600" y="1866900"/>
            <a:ext cx="3810000" cy="3581400"/>
            <a:chOff x="609600" y="1866900"/>
            <a:chExt cx="3810000" cy="3581400"/>
          </a:xfrm>
        </p:grpSpPr>
        <p:sp>
          <p:nvSpPr>
            <p:cNvPr id="5" name="Rectangle 5"/>
            <p:cNvSpPr/>
            <p:nvPr/>
          </p:nvSpPr>
          <p:spPr>
            <a:xfrm>
              <a:off x="609600" y="1866900"/>
              <a:ext cx="3810000" cy="3581400"/>
            </a:xfrm>
            <a:prstGeom prst="roundRect">
              <a:avLst>
                <a:gd name="adj" fmla="val 1064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1962150"/>
              <a:ext cx="271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Geronimo writes · itemBid.js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92480" y="2374900"/>
              <a:ext cx="3513963" cy="2465070"/>
              <a:chOff x="792480" y="2374900"/>
              <a:chExt cx="3513963" cy="246507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92480" y="2374900"/>
                <a:ext cx="20143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const connection =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82980" y="2660650"/>
                <a:ext cx="292415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new HubConnectionBuilder()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82980" y="2946400"/>
                <a:ext cx="213459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.withUrl("/bidhub")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2980" y="3232150"/>
                <a:ext cx="280606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.withAutomaticReconnect()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82980" y="3517900"/>
                <a:ext cx="10147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.build();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2480" y="3975100"/>
                <a:ext cx="20143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connection.start()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2980" y="4260850"/>
                <a:ext cx="12369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.then(() =&gt;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73480" y="4546600"/>
                <a:ext cx="31329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bidButton.disabled = false);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792480" y="5010150"/>
              <a:ext cx="3227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PLACE BID stays off until connected</a:t>
              </a:r>
            </a:p>
          </p:txBody>
        </p:sp>
      </p:grpSp>
      <p:grpSp>
        <p:nvGrpSpPr>
          <p:cNvPr id="19" name="handoff"/>
          <p:cNvGrpSpPr/>
          <p:nvPr/>
        </p:nvGrpSpPr>
        <p:grpSpPr>
          <a:xfrm>
            <a:off x="4476750" y="4038600"/>
            <a:ext cx="781050" cy="1"/>
            <a:chOff x="4476750" y="4038600"/>
            <a:chExt cx="781050" cy="1"/>
          </a:xfrm>
        </p:grpSpPr>
        <p:sp>
          <p:nvSpPr>
            <p:cNvPr id="18" name="Line 18"/>
            <p:cNvSpPr/>
            <p:nvPr/>
          </p:nvSpPr>
          <p:spPr>
            <a:xfrm>
              <a:off x="4476750" y="4038600"/>
              <a:ext cx="7810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44" name="signalr-sequence"/>
          <p:cNvGrpSpPr/>
          <p:nvPr/>
        </p:nvGrpSpPr>
        <p:grpSpPr>
          <a:xfrm>
            <a:off x="5372100" y="1866900"/>
            <a:ext cx="6210300" cy="3581400"/>
            <a:chOff x="5372100" y="1866900"/>
            <a:chExt cx="6210300" cy="3581400"/>
          </a:xfrm>
        </p:grpSpPr>
        <p:sp>
          <p:nvSpPr>
            <p:cNvPr id="20" name="Rectangle 20"/>
            <p:cNvSpPr/>
            <p:nvPr/>
          </p:nvSpPr>
          <p:spPr>
            <a:xfrm>
              <a:off x="5372100" y="1866900"/>
              <a:ext cx="6210300" cy="3581400"/>
            </a:xfrm>
            <a:prstGeom prst="roundRect">
              <a:avLst>
                <a:gd name="adj" fmla="val 1064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554980" y="1962150"/>
              <a:ext cx="12456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 does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698893" y="2286000"/>
              <a:ext cx="5470992" cy="293370"/>
              <a:chOff x="5698893" y="2286000"/>
              <a:chExt cx="5470992" cy="2933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698893" y="2286000"/>
                <a:ext cx="7942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Browser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547115" y="2286000"/>
                <a:ext cx="6227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Server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096000" y="2590800"/>
              <a:ext cx="4772025" cy="2705100"/>
              <a:chOff x="6096000" y="2590800"/>
              <a:chExt cx="4772025" cy="2705100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6096000" y="2590800"/>
                <a:ext cx="9525" cy="270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05100">
                    <a:moveTo>
                      <a:pt x="0" y="0"/>
                    </a:moveTo>
                    <a:lnTo>
                      <a:pt x="0" y="2705100"/>
                    </a:lnTo>
                  </a:path>
                </a:pathLst>
              </a:custGeom>
              <a:noFill/>
              <a:ln w="9525">
                <a:solidFill>
                  <a:srgbClr val="526B80"/>
                </a:solidFill>
                <a:prstDash val="dash"/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10858500" y="2590800"/>
                <a:ext cx="9525" cy="270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05100">
                    <a:moveTo>
                      <a:pt x="0" y="0"/>
                    </a:moveTo>
                    <a:lnTo>
                      <a:pt x="0" y="2705100"/>
                    </a:lnTo>
                  </a:path>
                </a:pathLst>
              </a:custGeom>
              <a:noFill/>
              <a:ln w="9525">
                <a:solidFill>
                  <a:srgbClr val="526B80"/>
                </a:solidFill>
                <a:prstDash val="dash"/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6115050" y="2895600"/>
              <a:ext cx="4724400" cy="1905001"/>
              <a:chOff x="6115050" y="2895600"/>
              <a:chExt cx="4724400" cy="1905001"/>
            </a:xfrm>
          </p:grpSpPr>
          <p:sp>
            <p:nvSpPr>
              <p:cNvPr id="28" name="Line 28"/>
              <p:cNvSpPr/>
              <p:nvPr/>
            </p:nvSpPr>
            <p:spPr>
              <a:xfrm>
                <a:off x="6115050" y="2895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29" name="Line 29"/>
              <p:cNvSpPr/>
              <p:nvPr/>
            </p:nvSpPr>
            <p:spPr>
              <a:xfrm flipH="1">
                <a:off x="6134100" y="3276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6115050" y="3657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31" name="Line 31"/>
              <p:cNvSpPr/>
              <p:nvPr/>
            </p:nvSpPr>
            <p:spPr>
              <a:xfrm flipH="1">
                <a:off x="6134100" y="4038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6115050" y="4419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33" name="Line 33"/>
              <p:cNvSpPr/>
              <p:nvPr/>
            </p:nvSpPr>
            <p:spPr>
              <a:xfrm flipH="1">
                <a:off x="6134100" y="4800600"/>
                <a:ext cx="4705350" cy="1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</p:grpSp>
        <p:sp>
          <p:nvSpPr>
            <p:cNvPr id="35" name="Line 35"/>
            <p:cNvSpPr/>
            <p:nvPr/>
          </p:nvSpPr>
          <p:spPr>
            <a:xfrm>
              <a:off x="6134100" y="51816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  <a:prstDash val="lgDash"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748177" y="2641600"/>
              <a:ext cx="3458147" cy="2579370"/>
              <a:chOff x="6748177" y="2641600"/>
              <a:chExt cx="3458147" cy="2579370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7233395" y="2641600"/>
                <a:ext cx="24877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POST /bidhub/negotiate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911249" y="3022600"/>
                <a:ext cx="313200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connectionToken · transports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120128" y="3403600"/>
                <a:ext cx="27142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GET /bidhub?id=… Upgrade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184390" y="3784600"/>
                <a:ext cx="25857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101 Switching Protocols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748177" y="4165600"/>
                <a:ext cx="34581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{"protocol":"json","version":1}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291108" y="4546600"/>
                <a:ext cx="237228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{} → OnConnectedAsync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25830" y="4927600"/>
                <a:ext cx="29028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ping every 15 s, both ways</a:t>
                </a:r>
              </a:p>
            </p:txBody>
          </p:sp>
        </p:grpSp>
      </p:grpSp>
      <p:grpSp>
        <p:nvGrpSpPr>
          <p:cNvPr id="50" name="reconnect"/>
          <p:cNvGrpSpPr/>
          <p:nvPr/>
        </p:nvGrpSpPr>
        <p:grpSpPr>
          <a:xfrm>
            <a:off x="609600" y="5676900"/>
            <a:ext cx="10972800" cy="462407"/>
            <a:chOff x="609600" y="5676900"/>
            <a:chExt cx="10972800" cy="462407"/>
          </a:xfrm>
        </p:grpSpPr>
        <p:sp>
          <p:nvSpPr>
            <p:cNvPr id="45" name="Line 45"/>
            <p:cNvSpPr/>
            <p:nvPr/>
          </p:nvSpPr>
          <p:spPr>
            <a:xfrm>
              <a:off x="609600" y="5676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54050" y="5850413"/>
              <a:ext cx="177801" cy="186375"/>
              <a:chOff x="654050" y="5850413"/>
              <a:chExt cx="177801" cy="18637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54050" y="58504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rgbClr val="B36A13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4050" y="59547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rgbClr val="B36A13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82218" y="5816600"/>
              <a:ext cx="9330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Lost?</a:t>
              </a: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onreconnecting → banner</a:t>
              </a: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retry after 0, 2, 10, 30 s</a:t>
              </a:r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e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onreconnected → “Refresh your page”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6221392" cy="1038225"/>
            <a:chOff x="590550" y="571500"/>
            <a:chExt cx="6221392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5092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· How does Geronimo sync a bid? · Phase 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622139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One click becomes AddBid</a:t>
              </a:r>
            </a:p>
          </p:txBody>
        </p:sp>
      </p:grpSp>
      <p:grpSp>
        <p:nvGrpSpPr>
          <p:cNvPr id="24" name="lane-browser"/>
          <p:cNvGrpSpPr/>
          <p:nvPr/>
        </p:nvGrpSpPr>
        <p:grpSpPr>
          <a:xfrm>
            <a:off x="609600" y="1866900"/>
            <a:ext cx="2819400" cy="4305300"/>
            <a:chOff x="609600" y="1866900"/>
            <a:chExt cx="2819400" cy="4305300"/>
          </a:xfrm>
        </p:grpSpPr>
        <p:sp>
          <p:nvSpPr>
            <p:cNvPr id="5" name="Rectangle 5"/>
            <p:cNvSpPr/>
            <p:nvPr/>
          </p:nvSpPr>
          <p:spPr>
            <a:xfrm>
              <a:off x="609600" y="1866900"/>
              <a:ext cx="2819400" cy="4305300"/>
            </a:xfrm>
            <a:prstGeom prst="roundRect">
              <a:avLst>
                <a:gd name="adj" fmla="val 1351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1962150"/>
              <a:ext cx="19104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Browser · itemBid.js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33438" y="2479675"/>
              <a:ext cx="188913" cy="222254"/>
              <a:chOff x="833438" y="2479675"/>
              <a:chExt cx="188913" cy="22225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89000" y="2490788"/>
                <a:ext cx="3333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111125">
                    <a:moveTo>
                      <a:pt x="0" y="111125"/>
                    </a:move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100013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22338" y="2546350"/>
                <a:ext cx="33338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44450">
                    <a:moveTo>
                      <a:pt x="0" y="38894"/>
                    </a:move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55675" y="2557463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6946" y="2568575"/>
                <a:ext cx="185405" cy="133354"/>
              </a:xfrm>
              <a:custGeom>
                <a:avLst/>
                <a:gdLst/>
                <a:ahLst/>
                <a:cxnLst/>
                <a:rect l="l" t="t" r="r" b="b"/>
                <a:pathLst>
                  <a:path w="185405" h="133354">
                    <a:moveTo>
                      <a:pt x="152067" y="16669"/>
                    </a:moveTo>
                    <a:cubicBezTo>
                      <a:pt x="152067" y="7463"/>
                      <a:pt x="159530" y="0"/>
                      <a:pt x="168736" y="0"/>
                    </a:cubicBezTo>
                    <a:cubicBezTo>
                      <a:pt x="177942" y="0"/>
                      <a:pt x="185405" y="7463"/>
                      <a:pt x="185405" y="16669"/>
                    </a:cubicBezTo>
                    <a:lnTo>
                      <a:pt x="185405" y="66675"/>
                    </a:lnTo>
                    <a:cubicBezTo>
                      <a:pt x="185405" y="103499"/>
                      <a:pt x="155553" y="133350"/>
                      <a:pt x="118730" y="133350"/>
                    </a:cubicBezTo>
                    <a:lnTo>
                      <a:pt x="96505" y="133350"/>
                    </a:lnTo>
                    <a:lnTo>
                      <a:pt x="98816" y="133350"/>
                    </a:lnTo>
                    <a:cubicBezTo>
                      <a:pt x="76386" y="133354"/>
                      <a:pt x="55457" y="122080"/>
                      <a:pt x="43120" y="103347"/>
                    </a:cubicBezTo>
                    <a:lnTo>
                      <a:pt x="40942" y="100013"/>
                    </a:lnTo>
                    <a:cubicBezTo>
                      <a:pt x="37475" y="94690"/>
                      <a:pt x="25307" y="73476"/>
                      <a:pt x="4426" y="36360"/>
                    </a:cubicBezTo>
                    <a:cubicBezTo>
                      <a:pt x="0" y="28493"/>
                      <a:pt x="2640" y="18532"/>
                      <a:pt x="10382" y="13891"/>
                    </a:cubicBezTo>
                    <a:cubicBezTo>
                      <a:pt x="18542" y="8995"/>
                      <a:pt x="28986" y="10277"/>
                      <a:pt x="35719" y="17002"/>
                    </a:cubicBezTo>
                    <a:lnTo>
                      <a:pt x="52054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4550" y="2479675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11113" y="11113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3438" y="2535238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2479675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0" y="11113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66788" y="2524125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53668" y="2463800"/>
              <a:ext cx="1179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PLACE BID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3668" y="2768600"/>
              <a:ext cx="18288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CONFIRM panel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92480" y="3479800"/>
              <a:ext cx="2441638" cy="1150620"/>
              <a:chOff x="792480" y="3479800"/>
              <a:chExt cx="2441638" cy="115062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792480" y="3479800"/>
                <a:ext cx="20143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connection.invoke(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2980" y="3765550"/>
                <a:ext cx="193000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"AddBid", itemId,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82980" y="4051300"/>
                <a:ext cx="22511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b="1" dirty="0">
                    <a:solidFill>
                      <a:srgbClr val="B36A13"/>
                    </a:solidFill>
                    <a:latin typeface="Consolas"/>
                    <a:ea typeface="Consolas"/>
                    <a:cs typeface="Consolas"/>
                  </a:rPr>
                  <a:t>bidderId</a:t>
                </a:r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, bidAmount,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82980" y="4337050"/>
                <a:ext cx="21552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isBuyNow, isMaxBid)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792480" y="5130800"/>
              <a:ext cx="1836268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Promise waits for</a:t>
              </a:r>
              <a:b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Completion (type 3)</a:t>
              </a:r>
            </a:p>
          </p:txBody>
        </p:sp>
      </p:grpSp>
      <p:grpSp>
        <p:nvGrpSpPr>
          <p:cNvPr id="40" name="lane-signalr"/>
          <p:cNvGrpSpPr/>
          <p:nvPr/>
        </p:nvGrpSpPr>
        <p:grpSpPr>
          <a:xfrm>
            <a:off x="3314700" y="1866900"/>
            <a:ext cx="3048000" cy="4305300"/>
            <a:chOff x="3314700" y="1866900"/>
            <a:chExt cx="3048000" cy="4305300"/>
          </a:xfrm>
        </p:grpSpPr>
        <p:sp>
          <p:nvSpPr>
            <p:cNvPr id="25" name="Rectangle 25"/>
            <p:cNvSpPr/>
            <p:nvPr/>
          </p:nvSpPr>
          <p:spPr>
            <a:xfrm>
              <a:off x="3657600" y="1866900"/>
              <a:ext cx="2705100" cy="4305300"/>
            </a:xfrm>
            <a:prstGeom prst="roundRect">
              <a:avLst>
                <a:gd name="adj" fmla="val 1408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40480" y="1962150"/>
              <a:ext cx="742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314700" y="3600450"/>
              <a:ext cx="4572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3810000" y="3352800"/>
              <a:ext cx="2400300" cy="2019300"/>
              <a:chOff x="3810000" y="3352800"/>
              <a:chExt cx="2400300" cy="20193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10000" y="3352800"/>
                <a:ext cx="24003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3810000" y="4114800"/>
                <a:ext cx="24003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3810000" y="4876800"/>
                <a:ext cx="2400300" cy="49530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chemeClr val="accent3"/>
                </a:solidFill>
                <a:custDash>
                  <a:ds d="400000" sp="266667"/>
                </a:custDash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3943180" y="3479800"/>
              <a:ext cx="2133940" cy="1817370"/>
              <a:chOff x="3943180" y="3479800"/>
              <a:chExt cx="2133940" cy="1817370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3943180" y="3479800"/>
                <a:ext cx="2133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Invocation · type 1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943713" y="4241800"/>
                <a:ext cx="21328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Find method by name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982770" y="5003800"/>
                <a:ext cx="20547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Create BidHub (DI)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010150" y="3867150"/>
              <a:ext cx="1" cy="971550"/>
              <a:chOff x="5010150" y="3867150"/>
              <a:chExt cx="1" cy="971550"/>
            </a:xfrm>
          </p:grpSpPr>
          <p:sp>
            <p:nvSpPr>
              <p:cNvPr id="36" name="Line 36"/>
              <p:cNvSpPr/>
              <p:nvPr/>
            </p:nvSpPr>
            <p:spPr>
              <a:xfrm>
                <a:off x="5010150" y="3867150"/>
                <a:ext cx="1" cy="20955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5010150" y="4629150"/>
                <a:ext cx="1" cy="209550"/>
              </a:xfrm>
              <a:prstGeom prst="line">
                <a:avLst/>
              </a:pr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840480" y="2368550"/>
              <a:ext cx="1671066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Frame on the open</a:t>
              </a:r>
              <a:b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WebSocket, with an</a:t>
              </a:r>
              <a:b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invocationId</a:t>
              </a:r>
            </a:p>
          </p:txBody>
        </p:sp>
      </p:grpSp>
      <p:sp>
        <p:nvSpPr>
          <p:cNvPr id="41" name="lane-bidhub-field"/>
          <p:cNvSpPr/>
          <p:nvPr/>
        </p:nvSpPr>
        <p:spPr>
          <a:xfrm>
            <a:off x="6591300" y="1866900"/>
            <a:ext cx="4991100" cy="4305300"/>
          </a:xfrm>
          <a:prstGeom prst="roundRect">
            <a:avLst>
              <a:gd name="adj" fmla="val 885"/>
            </a:avLst>
          </a:prstGeom>
          <a:solidFill>
            <a:schemeClr val="lt2"/>
          </a:solidFill>
          <a:ln w="19050">
            <a:solidFill>
              <a:schemeClr val="accent2"/>
            </a:solidFill>
          </a:ln>
        </p:spPr>
      </p:sp>
      <p:sp>
        <p:nvSpPr>
          <p:cNvPr id="42" name="Freeform 42"/>
          <p:cNvSpPr/>
          <p:nvPr/>
        </p:nvSpPr>
        <p:spPr>
          <a:xfrm>
            <a:off x="6648450" y="2819400"/>
            <a:ext cx="381000" cy="381000"/>
          </a:xfrm>
          <a:prstGeom prst="flowChartDecision">
            <a:avLst/>
          </a:prstGeom>
          <a:solidFill>
            <a:srgbClr val="FFFFFF"/>
          </a:solidFill>
          <a:ln w="19050">
            <a:solidFill>
              <a:schemeClr val="accent2"/>
            </a:solidFill>
          </a:ln>
        </p:spPr>
      </p:sp>
      <p:grpSp>
        <p:nvGrpSpPr>
          <p:cNvPr id="73" name="lane-bidhub"/>
          <p:cNvGrpSpPr/>
          <p:nvPr/>
        </p:nvGrpSpPr>
        <p:grpSpPr>
          <a:xfrm>
            <a:off x="6248400" y="1962150"/>
            <a:ext cx="5181600" cy="4095750"/>
            <a:chOff x="6248400" y="1962150"/>
            <a:chExt cx="5181600" cy="4095750"/>
          </a:xfrm>
        </p:grpSpPr>
        <p:sp>
          <p:nvSpPr>
            <p:cNvPr id="43" name="Line 43"/>
            <p:cNvSpPr/>
            <p:nvPr/>
          </p:nvSpPr>
          <p:spPr>
            <a:xfrm>
              <a:off x="6248400" y="51244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6457950" y="25146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26098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6457950" y="2514600"/>
              <a:ext cx="1905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74180" y="1962150"/>
              <a:ext cx="2635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BidHub.AddBid · Geronimo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6686550" y="2362200"/>
              <a:ext cx="304800" cy="2781300"/>
              <a:chOff x="6686550" y="2362200"/>
              <a:chExt cx="304800" cy="2781300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6686550" y="23622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6686550" y="33528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6686550" y="38481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6686550" y="43434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6686550" y="4838700"/>
                <a:ext cx="304800" cy="3048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6779824" y="2406650"/>
              <a:ext cx="118251" cy="2740533"/>
              <a:chOff x="6779824" y="2406650"/>
              <a:chExt cx="118251" cy="2740533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6779824" y="24066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779824" y="29019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779824" y="33972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779824" y="38925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779824" y="43878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779824" y="4883150"/>
                <a:ext cx="118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154418" y="2387600"/>
              <a:ext cx="3227699" cy="2799207"/>
              <a:chOff x="7154418" y="2387600"/>
              <a:chExt cx="3227699" cy="2799207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7154418" y="2387600"/>
                <a:ext cx="22434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GetBidContextAsync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154418" y="2882900"/>
                <a:ext cx="223652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ValidateBidRequest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154418" y="3378200"/>
                <a:ext cx="28542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ProcessBidCreationAsync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154418" y="3873500"/>
                <a:ext cx="322769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ProcessPostBidActionsAsync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154418" y="4368800"/>
                <a:ext cx="31055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HandleBuyNowPurchaseAsync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154418" y="4864100"/>
                <a:ext cx="28542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BroadcastBidUpdateAsync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10107930" y="4876800"/>
              <a:ext cx="10259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next slide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448800" y="30099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14288">
              <a:solidFill>
                <a:srgbClr val="526B80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11315700" y="3009900"/>
              <a:ext cx="1" cy="2324100"/>
            </a:xfrm>
            <a:prstGeom prst="line">
              <a:avLst/>
            </a:prstGeom>
            <a:noFill/>
            <a:ln w="14288">
              <a:solidFill>
                <a:srgbClr val="526B80"/>
              </a:solidFill>
              <a:tailEnd type="triangle" w="lg" len="lg"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555480" y="2724150"/>
              <a:ext cx="594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invalid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162800" y="5391150"/>
              <a:ext cx="4267200" cy="6667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526B80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307580" y="5454650"/>
              <a:ext cx="350876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addBidFail</a:t>
              </a: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→ Caller (e.g. BID_TOO_LOW)</a:t>
              </a:r>
              <a:b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current price → All, isSuccessful = false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74" name="TextBox 74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5363166" cy="1038225"/>
            <a:chOff x="590550" y="571500"/>
            <a:chExt cx="5363166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5092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· How does Geronimo sync a bid? · Phase 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5363166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One bid, two audiences</a:t>
              </a:r>
            </a:p>
          </p:txBody>
        </p:sp>
      </p:grpSp>
      <p:grpSp>
        <p:nvGrpSpPr>
          <p:cNvPr id="14" name="geronimo-broadcast"/>
          <p:cNvGrpSpPr/>
          <p:nvPr/>
        </p:nvGrpSpPr>
        <p:grpSpPr>
          <a:xfrm>
            <a:off x="609600" y="1866900"/>
            <a:ext cx="3284506" cy="4305300"/>
            <a:chOff x="609600" y="1866900"/>
            <a:chExt cx="3284506" cy="4305300"/>
          </a:xfrm>
        </p:grpSpPr>
        <p:sp>
          <p:nvSpPr>
            <p:cNvPr id="5" name="Rectangle 5"/>
            <p:cNvSpPr/>
            <p:nvPr/>
          </p:nvSpPr>
          <p:spPr>
            <a:xfrm>
              <a:off x="609600" y="1866900"/>
              <a:ext cx="3238500" cy="4305300"/>
            </a:xfrm>
            <a:prstGeom prst="roundRect">
              <a:avLst>
                <a:gd name="adj" fmla="val 1176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1962150"/>
              <a:ext cx="12130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Server sends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91718" y="2692400"/>
              <a:ext cx="3102388" cy="2037207"/>
              <a:chOff x="791718" y="2692400"/>
              <a:chExt cx="3102388" cy="203720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91718" y="2692400"/>
                <a:ext cx="273648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Clients.All.SendAsync(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82218" y="2959100"/>
                <a:ext cx="222822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"updateItem", ...)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91718" y="3416300"/>
                <a:ext cx="273648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Clients.All.SendAsync(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82218" y="3683000"/>
                <a:ext cx="23498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"updateEvent", ...)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1718" y="4140200"/>
                <a:ext cx="310238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Clients.Caller.SendAsync(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218" y="4406900"/>
                <a:ext cx="23581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"addBidSuccess", …)</a:t>
                </a:r>
              </a:p>
            </p:txBody>
          </p:sp>
        </p:grpSp>
      </p:grpSp>
      <p:grpSp>
        <p:nvGrpSpPr>
          <p:cNvPr id="29" name="signalr-fanout"/>
          <p:cNvGrpSpPr/>
          <p:nvPr/>
        </p:nvGrpSpPr>
        <p:grpSpPr>
          <a:xfrm>
            <a:off x="3867150" y="1866900"/>
            <a:ext cx="3448050" cy="4305300"/>
            <a:chOff x="3867150" y="1866900"/>
            <a:chExt cx="3448050" cy="4305300"/>
          </a:xfrm>
        </p:grpSpPr>
        <p:sp>
          <p:nvSpPr>
            <p:cNvPr id="15" name="Line 15"/>
            <p:cNvSpPr/>
            <p:nvPr/>
          </p:nvSpPr>
          <p:spPr>
            <a:xfrm>
              <a:off x="3867150" y="2857500"/>
              <a:ext cx="4000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14800" y="1866900"/>
              <a:ext cx="3200400" cy="4305300"/>
            </a:xfrm>
            <a:prstGeom prst="roundRect">
              <a:avLst>
                <a:gd name="adj" fmla="val 1190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7680" y="1962150"/>
              <a:ext cx="742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05300" y="2457450"/>
              <a:ext cx="2819400" cy="990600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68368" y="2578100"/>
              <a:ext cx="2236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HubLifetimeManager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69130" y="2838450"/>
              <a:ext cx="23169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Send to connected clients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0" y="3486150"/>
              <a:ext cx="1" cy="8382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dash"/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05300" y="4381500"/>
              <a:ext cx="2819400" cy="8763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514850" y="4543425"/>
              <a:ext cx="152400" cy="171450"/>
              <a:chOff x="4514850" y="4543425"/>
              <a:chExt cx="152400" cy="1714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514850" y="454342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514850" y="45720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514850" y="46291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773930" y="4514850"/>
              <a:ext cx="1555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Redis backplane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9130" y="4857750"/>
              <a:ext cx="2690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 message → other servers</a:t>
              </a:r>
            </a:p>
          </p:txBody>
        </p:sp>
      </p:grpSp>
      <p:grpSp>
        <p:nvGrpSpPr>
          <p:cNvPr id="33" name="edges"/>
          <p:cNvGrpSpPr/>
          <p:nvPr/>
        </p:nvGrpSpPr>
        <p:grpSpPr>
          <a:xfrm>
            <a:off x="7143750" y="2571750"/>
            <a:ext cx="438150" cy="2381250"/>
            <a:chOff x="7143750" y="2571750"/>
            <a:chExt cx="438150" cy="2381250"/>
          </a:xfrm>
        </p:grpSpPr>
        <p:sp>
          <p:nvSpPr>
            <p:cNvPr id="30" name="Line 30"/>
            <p:cNvSpPr/>
            <p:nvPr/>
          </p:nvSpPr>
          <p:spPr>
            <a:xfrm flipV="1">
              <a:off x="7143750" y="2571750"/>
              <a:ext cx="438150" cy="1905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1" name="Line 31"/>
            <p:cNvSpPr/>
            <p:nvPr/>
          </p:nvSpPr>
          <p:spPr>
            <a:xfrm flipV="1">
              <a:off x="7143750" y="2857500"/>
              <a:ext cx="438150" cy="952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>
              <a:off x="7143750" y="3143250"/>
              <a:ext cx="438150" cy="1809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</p:grpSp>
      <p:grpSp>
        <p:nvGrpSpPr>
          <p:cNvPr id="41" name="browser-anna"/>
          <p:cNvGrpSpPr/>
          <p:nvPr/>
        </p:nvGrpSpPr>
        <p:grpSpPr>
          <a:xfrm>
            <a:off x="7620000" y="1866900"/>
            <a:ext cx="3962400" cy="2038350"/>
            <a:chOff x="7620000" y="1866900"/>
            <a:chExt cx="3962400" cy="2038350"/>
          </a:xfrm>
        </p:grpSpPr>
        <p:sp>
          <p:nvSpPr>
            <p:cNvPr id="34" name="Rectangle 34"/>
            <p:cNvSpPr/>
            <p:nvPr/>
          </p:nvSpPr>
          <p:spPr>
            <a:xfrm>
              <a:off x="7620000" y="1866900"/>
              <a:ext cx="3962400" cy="2038350"/>
            </a:xfrm>
            <a:prstGeom prst="roundRect">
              <a:avLst>
                <a:gd name="adj" fmla="val 1869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02118" y="1968500"/>
              <a:ext cx="1436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Anna · bidder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93766" y="1981200"/>
              <a:ext cx="10057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All + Caller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7802880" y="2393950"/>
              <a:ext cx="3139044" cy="617220"/>
              <a:chOff x="7802880" y="2393950"/>
              <a:chExt cx="3139044" cy="617220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7802880" y="2393950"/>
                <a:ext cx="246627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updateItem → new price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802880" y="2717800"/>
                <a:ext cx="31390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addBidSuccess → confirmation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7802880" y="3105150"/>
              <a:ext cx="1238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Bid accepted</a:t>
              </a:r>
            </a:p>
          </p:txBody>
        </p:sp>
      </p:grpSp>
      <p:grpSp>
        <p:nvGrpSpPr>
          <p:cNvPr id="47" name="browser-ben"/>
          <p:cNvGrpSpPr/>
          <p:nvPr/>
        </p:nvGrpSpPr>
        <p:grpSpPr>
          <a:xfrm>
            <a:off x="7620000" y="4095750"/>
            <a:ext cx="3962400" cy="2076450"/>
            <a:chOff x="7620000" y="4095750"/>
            <a:chExt cx="3962400" cy="2076450"/>
          </a:xfrm>
        </p:grpSpPr>
        <p:sp>
          <p:nvSpPr>
            <p:cNvPr id="42" name="Rectangle 42"/>
            <p:cNvSpPr/>
            <p:nvPr/>
          </p:nvSpPr>
          <p:spPr>
            <a:xfrm>
              <a:off x="7620000" y="4095750"/>
              <a:ext cx="3962400" cy="2076450"/>
            </a:xfrm>
            <a:prstGeom prst="roundRect">
              <a:avLst>
                <a:gd name="adj" fmla="val 1835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02118" y="4197350"/>
              <a:ext cx="15628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Ben · watching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51917" y="4210050"/>
              <a:ext cx="2476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All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2880" y="4622800"/>
              <a:ext cx="2466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updateItem → new price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02880" y="5010150"/>
              <a:ext cx="16917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Price updates live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6930059" cy="1038225"/>
            <a:chOff x="590550" y="571500"/>
            <a:chExt cx="6930059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5559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· How does Geronimo sync a bid? · Server push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6930059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No click needed: closing items</a:t>
              </a:r>
            </a:p>
          </p:txBody>
        </p:sp>
      </p:grpSp>
      <p:grpSp>
        <p:nvGrpSpPr>
          <p:cNvPr id="32" name="sources"/>
          <p:cNvGrpSpPr/>
          <p:nvPr/>
        </p:nvGrpSpPr>
        <p:grpSpPr>
          <a:xfrm>
            <a:off x="642938" y="2235200"/>
            <a:ext cx="4652962" cy="2909570"/>
            <a:chOff x="642938" y="2235200"/>
            <a:chExt cx="4652962" cy="2909570"/>
          </a:xfrm>
        </p:grpSpPr>
        <p:grpSp>
          <p:nvGrpSpPr>
            <p:cNvPr id="7" name="Group 7"/>
            <p:cNvGrpSpPr/>
            <p:nvPr/>
          </p:nvGrpSpPr>
          <p:grpSpPr>
            <a:xfrm>
              <a:off x="642938" y="2262188"/>
              <a:ext cx="200026" cy="200026"/>
              <a:chOff x="642938" y="2262188"/>
              <a:chExt cx="200026" cy="20002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642938" y="22621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42950" y="230663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982218" y="2235200"/>
              <a:ext cx="17098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Quartz close job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2980" y="2565400"/>
              <a:ext cx="2648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closeItems</a:t>
              </a: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· batch, sent first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42938" y="3394075"/>
              <a:ext cx="188913" cy="222254"/>
              <a:chOff x="642938" y="3394075"/>
              <a:chExt cx="188913" cy="22225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98500" y="3405188"/>
                <a:ext cx="3333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111125">
                    <a:moveTo>
                      <a:pt x="0" y="111125"/>
                    </a:move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100013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31838" y="3460750"/>
                <a:ext cx="33338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44450">
                    <a:moveTo>
                      <a:pt x="0" y="38894"/>
                    </a:move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5175" y="3471863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6446" y="3482975"/>
                <a:ext cx="185405" cy="133354"/>
              </a:xfrm>
              <a:custGeom>
                <a:avLst/>
                <a:gdLst/>
                <a:ahLst/>
                <a:cxnLst/>
                <a:rect l="l" t="t" r="r" b="b"/>
                <a:pathLst>
                  <a:path w="185405" h="133354">
                    <a:moveTo>
                      <a:pt x="152067" y="16669"/>
                    </a:moveTo>
                    <a:cubicBezTo>
                      <a:pt x="152067" y="7463"/>
                      <a:pt x="159530" y="0"/>
                      <a:pt x="168736" y="0"/>
                    </a:cubicBezTo>
                    <a:cubicBezTo>
                      <a:pt x="177942" y="0"/>
                      <a:pt x="185405" y="7463"/>
                      <a:pt x="185405" y="16669"/>
                    </a:cubicBezTo>
                    <a:lnTo>
                      <a:pt x="185405" y="66675"/>
                    </a:lnTo>
                    <a:cubicBezTo>
                      <a:pt x="185405" y="103499"/>
                      <a:pt x="155553" y="133350"/>
                      <a:pt x="118730" y="133350"/>
                    </a:cubicBezTo>
                    <a:lnTo>
                      <a:pt x="96505" y="133350"/>
                    </a:lnTo>
                    <a:lnTo>
                      <a:pt x="98816" y="133350"/>
                    </a:lnTo>
                    <a:cubicBezTo>
                      <a:pt x="76386" y="133354"/>
                      <a:pt x="55457" y="122080"/>
                      <a:pt x="43120" y="103347"/>
                    </a:cubicBezTo>
                    <a:lnTo>
                      <a:pt x="40942" y="100013"/>
                    </a:lnTo>
                    <a:cubicBezTo>
                      <a:pt x="37475" y="94690"/>
                      <a:pt x="25307" y="73476"/>
                      <a:pt x="4426" y="36360"/>
                    </a:cubicBezTo>
                    <a:cubicBezTo>
                      <a:pt x="0" y="28493"/>
                      <a:pt x="2640" y="18532"/>
                      <a:pt x="10382" y="13891"/>
                    </a:cubicBezTo>
                    <a:cubicBezTo>
                      <a:pt x="18542" y="8995"/>
                      <a:pt x="28986" y="10277"/>
                      <a:pt x="35719" y="17002"/>
                    </a:cubicBezTo>
                    <a:lnTo>
                      <a:pt x="52054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54050" y="3394075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11113" y="11113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42938" y="3449638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11113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65175" y="3394075"/>
                <a:ext cx="1111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113">
                    <a:moveTo>
                      <a:pt x="0" y="11113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6288" y="3438525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982218" y="3378200"/>
              <a:ext cx="9805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2980" y="3708400"/>
              <a:ext cx="2216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closeItem</a:t>
              </a: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· ItemService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42938" y="4559300"/>
              <a:ext cx="200026" cy="177800"/>
              <a:chOff x="642938" y="4559300"/>
              <a:chExt cx="200026" cy="177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42938" y="45593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42938" y="46482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7388" y="4603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87388" y="46926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82218" y="4521200"/>
              <a:ext cx="12852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Event closes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2980" y="4851400"/>
              <a:ext cx="29363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closeEvent</a:t>
              </a:r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· EventOrderService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3810000" y="2590800"/>
              <a:ext cx="1485900" cy="2286000"/>
              <a:chOff x="3810000" y="2590800"/>
              <a:chExt cx="1485900" cy="2286000"/>
            </a:xfrm>
          </p:grpSpPr>
          <p:sp>
            <p:nvSpPr>
              <p:cNvPr id="28" name="Line 28"/>
              <p:cNvSpPr/>
              <p:nvPr/>
            </p:nvSpPr>
            <p:spPr>
              <a:xfrm>
                <a:off x="3810000" y="2590800"/>
                <a:ext cx="1485900" cy="99060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3810000" y="3733800"/>
                <a:ext cx="14859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30" name="Line 30"/>
              <p:cNvSpPr/>
              <p:nvPr/>
            </p:nvSpPr>
            <p:spPr>
              <a:xfrm flipV="1">
                <a:off x="3810000" y="3886200"/>
                <a:ext cx="1485900" cy="99060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</p:grpSp>
      <p:grpSp>
        <p:nvGrpSpPr>
          <p:cNvPr id="36" name="hub-context"/>
          <p:cNvGrpSpPr/>
          <p:nvPr/>
        </p:nvGrpSpPr>
        <p:grpSpPr>
          <a:xfrm>
            <a:off x="5334000" y="3238500"/>
            <a:ext cx="2857500" cy="990600"/>
            <a:chOff x="5334000" y="3238500"/>
            <a:chExt cx="2857500" cy="990600"/>
          </a:xfrm>
        </p:grpSpPr>
        <p:sp>
          <p:nvSpPr>
            <p:cNvPr id="33" name="Rectangle 33"/>
            <p:cNvSpPr/>
            <p:nvPr/>
          </p:nvSpPr>
          <p:spPr>
            <a:xfrm>
              <a:off x="5334000" y="3238500"/>
              <a:ext cx="2857500" cy="990600"/>
            </a:xfrm>
            <a:prstGeom prst="roundRect">
              <a:avLst>
                <a:gd name="adj" fmla="val 3846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16118" y="3416300"/>
              <a:ext cx="26205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IHubContext&lt;EventHub&gt;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16880" y="3771900"/>
              <a:ext cx="24171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push from outside any hub</a:t>
              </a:r>
            </a:p>
          </p:txBody>
        </p:sp>
      </p:grpSp>
      <p:grpSp>
        <p:nvGrpSpPr>
          <p:cNvPr id="47" name="signalr-all"/>
          <p:cNvGrpSpPr/>
          <p:nvPr/>
        </p:nvGrpSpPr>
        <p:grpSpPr>
          <a:xfrm>
            <a:off x="8210550" y="3352800"/>
            <a:ext cx="3225775" cy="998220"/>
            <a:chOff x="8210550" y="3352800"/>
            <a:chExt cx="3225775" cy="998220"/>
          </a:xfrm>
        </p:grpSpPr>
        <p:sp>
          <p:nvSpPr>
            <p:cNvPr id="37" name="Line 37"/>
            <p:cNvSpPr/>
            <p:nvPr/>
          </p:nvSpPr>
          <p:spPr>
            <a:xfrm>
              <a:off x="8210550" y="3733800"/>
              <a:ext cx="4762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724900" y="3352800"/>
              <a:ext cx="1409700" cy="762000"/>
            </a:xfrm>
            <a:prstGeom prst="roundRect">
              <a:avLst>
                <a:gd name="adj" fmla="val 5000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58533" y="3467100"/>
              <a:ext cx="742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04377" y="3746500"/>
              <a:ext cx="1250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Clients.All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10153650" y="3733800"/>
              <a:ext cx="2857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0560050" y="3416300"/>
              <a:ext cx="254001" cy="254001"/>
              <a:chOff x="10560050" y="3416300"/>
              <a:chExt cx="254001" cy="25400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560050" y="3479800"/>
                <a:ext cx="2540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">
                    <a:moveTo>
                      <a:pt x="0" y="0"/>
                    </a:move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560050" y="3416300"/>
                <a:ext cx="254001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54001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  <a:cubicBezTo>
                      <a:pt x="239786" y="0"/>
                      <a:pt x="254001" y="14215"/>
                      <a:pt x="254001" y="31750"/>
                    </a:cubicBezTo>
                    <a:lnTo>
                      <a:pt x="254001" y="222250"/>
                    </a:lnTo>
                    <a:cubicBezTo>
                      <a:pt x="254001" y="239786"/>
                      <a:pt x="239786" y="254001"/>
                      <a:pt x="222250" y="254001"/>
                    </a:cubicBez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623550" y="3416300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88930" y="3810000"/>
              <a:ext cx="94739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every open</a:t>
              </a:r>
              <a:b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page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601218" y="5600700"/>
            <a:ext cx="10981182" cy="481457"/>
            <a:chOff x="601218" y="5600700"/>
            <a:chExt cx="10981182" cy="481457"/>
          </a:xfrm>
        </p:grpSpPr>
        <p:sp>
          <p:nvSpPr>
            <p:cNvPr id="48" name="Line 48"/>
            <p:cNvSpPr/>
            <p:nvPr/>
          </p:nvSpPr>
          <p:spPr>
            <a:xfrm>
              <a:off x="609600" y="5600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1218" y="5759450"/>
              <a:ext cx="80894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background job triggers the update, and SignalR delivers it to connected clients.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8353765" cy="1038225"/>
            <a:chOff x="590550" y="571500"/>
            <a:chExt cx="8353765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34180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· Best practices: Do &amp; Avoid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8353765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Who chooses the bidder? The client.</a:t>
              </a:r>
            </a:p>
          </p:txBody>
        </p:sp>
      </p:grpSp>
      <p:grpSp>
        <p:nvGrpSpPr>
          <p:cNvPr id="9" name="client"/>
          <p:cNvGrpSpPr/>
          <p:nvPr/>
        </p:nvGrpSpPr>
        <p:grpSpPr>
          <a:xfrm>
            <a:off x="594360" y="1949450"/>
            <a:ext cx="4779311" cy="1942465"/>
            <a:chOff x="594360" y="1949450"/>
            <a:chExt cx="4779311" cy="1942465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949450"/>
              <a:ext cx="30326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ANNA SENDS BEN’S ID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313" y="2463800"/>
              <a:ext cx="364394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0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invoke("AddBid", itemId,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4360" y="2863850"/>
              <a:ext cx="390134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b="1" dirty="0">
                  <a:solidFill>
                    <a:srgbClr val="B36A13"/>
                  </a:solidFill>
                  <a:latin typeface="Consolas"/>
                  <a:ea typeface="Consolas"/>
                  <a:cs typeface="Consolas"/>
                </a:rPr>
                <a:t>"ben-id"</a:t>
              </a:r>
              <a:r>
                <a:rPr lang="en" sz="20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, amount, ...)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075" y="3524250"/>
              <a:ext cx="477359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argument says Ben. The caller is Anna.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3486" y="2584450"/>
            <a:ext cx="27786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3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grpSp>
        <p:nvGrpSpPr>
          <p:cNvPr id="16" name="server"/>
          <p:cNvGrpSpPr/>
          <p:nvPr/>
        </p:nvGrpSpPr>
        <p:grpSpPr>
          <a:xfrm>
            <a:off x="6694170" y="1949450"/>
            <a:ext cx="4123330" cy="2173605"/>
            <a:chOff x="6694170" y="1949450"/>
            <a:chExt cx="4123330" cy="2173605"/>
          </a:xfrm>
        </p:grpSpPr>
        <p:sp>
          <p:nvSpPr>
            <p:cNvPr id="11" name="TextBox 11"/>
            <p:cNvSpPr txBox="1"/>
            <p:nvPr/>
          </p:nvSpPr>
          <p:spPr>
            <a:xfrm>
              <a:off x="6695694" y="1949450"/>
              <a:ext cx="29312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SERVER USES THAT ID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95313" y="2463800"/>
              <a:ext cx="27465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0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GetBidContextAsync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95313" y="2832100"/>
              <a:ext cx="412218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0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Loads Ben; checks Ben’s eligibility.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95313" y="3340100"/>
              <a:ext cx="138357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0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CreateBid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4170" y="3683000"/>
              <a:ext cx="38280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Records Ben as the bidder.</a:t>
              </a:r>
            </a:p>
          </p:txBody>
        </p:sp>
      </p:grpSp>
      <p:grpSp>
        <p:nvGrpSpPr>
          <p:cNvPr id="18" name="risk"/>
          <p:cNvGrpSpPr/>
          <p:nvPr/>
        </p:nvGrpSpPr>
        <p:grpSpPr>
          <a:xfrm>
            <a:off x="595884" y="4318000"/>
            <a:ext cx="9225932" cy="528066"/>
            <a:chOff x="595884" y="4318000"/>
            <a:chExt cx="9225932" cy="528066"/>
          </a:xfrm>
        </p:grpSpPr>
        <p:sp>
          <p:nvSpPr>
            <p:cNvPr id="17" name="TextBox 17"/>
            <p:cNvSpPr txBox="1"/>
            <p:nvPr/>
          </p:nvSpPr>
          <p:spPr>
            <a:xfrm>
              <a:off x="595884" y="4318000"/>
              <a:ext cx="922593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B36A13"/>
                  </a:solidFill>
                  <a:latin typeface="+mj-lt"/>
                  <a:ea typeface="+mj-ea"/>
                  <a:cs typeface="+mj-cs"/>
                </a:rPr>
                <a:t>Anna places the bid. Ben is recorded as responsible.</a:t>
              </a:r>
            </a:p>
          </p:txBody>
        </p:sp>
      </p:grpSp>
      <p:grpSp>
        <p:nvGrpSpPr>
          <p:cNvPr id="21" name="fix-auth"/>
          <p:cNvGrpSpPr/>
          <p:nvPr/>
        </p:nvGrpSpPr>
        <p:grpSpPr>
          <a:xfrm>
            <a:off x="595122" y="5048250"/>
            <a:ext cx="4191464" cy="902081"/>
            <a:chOff x="595122" y="5048250"/>
            <a:chExt cx="4191464" cy="902081"/>
          </a:xfrm>
        </p:grpSpPr>
        <p:sp>
          <p:nvSpPr>
            <p:cNvPr id="19" name="TextBox 19"/>
            <p:cNvSpPr txBox="1"/>
            <p:nvPr/>
          </p:nvSpPr>
          <p:spPr>
            <a:xfrm>
              <a:off x="595122" y="5048250"/>
              <a:ext cx="23647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[Authorize]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9694" y="5568950"/>
              <a:ext cx="41868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 login for AddBid / AddBids.</a:t>
              </a:r>
            </a:p>
          </p:txBody>
        </p:sp>
      </p:grpSp>
      <p:grpSp>
        <p:nvGrpSpPr>
          <p:cNvPr id="24" name="fix-identity"/>
          <p:cNvGrpSpPr/>
          <p:nvPr/>
        </p:nvGrpSpPr>
        <p:grpSpPr>
          <a:xfrm>
            <a:off x="6388608" y="5099050"/>
            <a:ext cx="4476737" cy="850265"/>
            <a:chOff x="6388608" y="5099050"/>
            <a:chExt cx="4476737" cy="850265"/>
          </a:xfrm>
        </p:grpSpPr>
        <p:sp>
          <p:nvSpPr>
            <p:cNvPr id="22" name="TextBox 22"/>
            <p:cNvSpPr txBox="1"/>
            <p:nvPr/>
          </p:nvSpPr>
          <p:spPr>
            <a:xfrm>
              <a:off x="6388608" y="5099050"/>
              <a:ext cx="396536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Context.UserIdentifier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1275" y="5581650"/>
              <a:ext cx="447407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 the caller’s ID; remove the client ID.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0550" y="571500"/>
            <a:ext cx="6463002" cy="1038225"/>
            <a:chOff x="590550" y="571500"/>
            <a:chExt cx="6463002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34180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· Best practices: Do &amp; Avoid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646300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Three rules for the next hub</a:t>
              </a:r>
            </a:p>
          </p:txBody>
        </p:sp>
      </p:grpSp>
      <p:grpSp>
        <p:nvGrpSpPr>
          <p:cNvPr id="12" name="do-list"/>
          <p:cNvGrpSpPr/>
          <p:nvPr/>
        </p:nvGrpSpPr>
        <p:grpSpPr>
          <a:xfrm>
            <a:off x="594360" y="1955800"/>
            <a:ext cx="5262052" cy="3937381"/>
            <a:chOff x="594360" y="1955800"/>
            <a:chExt cx="5262052" cy="3937381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955800"/>
              <a:ext cx="59381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2730500"/>
              <a:ext cx="36478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Target the right audience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3187700"/>
              <a:ext cx="35034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 Groups per event or item.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170" y="3892550"/>
              <a:ext cx="37957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Use authenticated identity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4362450"/>
              <a:ext cx="52567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[Authorize] + Context.UserIdentifier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8170" y="5054600"/>
              <a:ext cx="35107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Plan for multiple servers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5511800"/>
              <a:ext cx="49623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Backplane + sticky sessions where needed.</a:t>
              </a:r>
            </a:p>
          </p:txBody>
        </p:sp>
      </p:grpSp>
      <p:grpSp>
        <p:nvGrpSpPr>
          <p:cNvPr id="20" name="avoid-list"/>
          <p:cNvGrpSpPr/>
          <p:nvPr/>
        </p:nvGrpSpPr>
        <p:grpSpPr>
          <a:xfrm>
            <a:off x="6690360" y="1955800"/>
            <a:ext cx="4781816" cy="3937381"/>
            <a:chOff x="6690360" y="1955800"/>
            <a:chExt cx="4781816" cy="3937381"/>
          </a:xfrm>
        </p:grpSpPr>
        <p:sp>
          <p:nvSpPr>
            <p:cNvPr id="13" name="TextBox 13"/>
            <p:cNvSpPr txBox="1"/>
            <p:nvPr/>
          </p:nvSpPr>
          <p:spPr>
            <a:xfrm>
              <a:off x="6690360" y="1955800"/>
              <a:ext cx="113863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B36A13"/>
                  </a:solidFill>
                  <a:latin typeface="+mj-lt"/>
                  <a:ea typeface="+mj-ea"/>
                  <a:cs typeface="+mj-cs"/>
                </a:rPr>
                <a:t>Avoid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94170" y="2730500"/>
              <a:ext cx="35146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Broadcasting everything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5694" y="3187700"/>
              <a:ext cx="43923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Send only data the audience may see.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4170" y="3892550"/>
              <a:ext cx="4778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Trusting a client-supplied user 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95694" y="4349750"/>
              <a:ext cx="44524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caller can submit someone else’s ID.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4170" y="5054600"/>
              <a:ext cx="2247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Isolated servers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95694" y="5511800"/>
              <a:ext cx="454994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Without scale-out, messages stay local.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akeaway"/>
          <p:cNvGrpSpPr/>
          <p:nvPr/>
        </p:nvGrpSpPr>
        <p:grpSpPr>
          <a:xfrm>
            <a:off x="590550" y="1682750"/>
            <a:ext cx="6652648" cy="1104900"/>
            <a:chOff x="590550" y="1682750"/>
            <a:chExt cx="6652648" cy="110490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682750"/>
              <a:ext cx="6652648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Demo &amp; Questions</a:t>
              </a:r>
            </a:p>
          </p:txBody>
        </p:sp>
      </p:grpSp>
      <p:sp>
        <p:nvSpPr>
          <p:cNvPr id="4" name="Line 4"/>
          <p:cNvSpPr/>
          <p:nvPr/>
        </p:nvSpPr>
        <p:spPr>
          <a:xfrm>
            <a:off x="609600" y="3200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609600" y="3543300"/>
            <a:ext cx="4000500" cy="762000"/>
          </a:xfrm>
          <a:prstGeom prst="chevron">
            <a:avLst/>
          </a:prstGeom>
          <a:solidFill>
            <a:schemeClr val="lt2"/>
          </a:solidFill>
          <a:ln w="14288">
            <a:solidFill>
              <a:schemeClr val="accent2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4229100" y="3543300"/>
            <a:ext cx="4000500" cy="762000"/>
          </a:xfrm>
          <a:prstGeom prst="chevron">
            <a:avLst/>
          </a:prstGeom>
          <a:solidFill>
            <a:schemeClr val="lt2"/>
          </a:solidFill>
          <a:ln w="14288">
            <a:solidFill>
              <a:schemeClr val="accent2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7848600" y="3543300"/>
            <a:ext cx="3733800" cy="762000"/>
          </a:xfrm>
          <a:prstGeom prst="chevron">
            <a:avLst/>
          </a:prstGeom>
          <a:solidFill>
            <a:srgbClr val="F1EBFD"/>
          </a:solidFill>
          <a:ln w="14288">
            <a:solidFill>
              <a:schemeClr val="accent3"/>
            </a:solidFill>
          </a:ln>
        </p:spPr>
      </p:sp>
      <p:grpSp>
        <p:nvGrpSpPr>
          <p:cNvPr id="16" name="scene-labels"/>
          <p:cNvGrpSpPr/>
          <p:nvPr/>
        </p:nvGrpSpPr>
        <p:grpSpPr>
          <a:xfrm>
            <a:off x="1586330" y="3797300"/>
            <a:ext cx="9057217" cy="991870"/>
            <a:chOff x="1586330" y="3797300"/>
            <a:chExt cx="9057217" cy="991870"/>
          </a:xfrm>
        </p:grpSpPr>
        <p:grpSp>
          <p:nvGrpSpPr>
            <p:cNvPr id="11" name="Group 11"/>
            <p:cNvGrpSpPr/>
            <p:nvPr/>
          </p:nvGrpSpPr>
          <p:grpSpPr>
            <a:xfrm>
              <a:off x="2013288" y="3797300"/>
              <a:ext cx="8391033" cy="322707"/>
              <a:chOff x="2013288" y="3797300"/>
              <a:chExt cx="8391033" cy="322707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2013288" y="3797300"/>
                <a:ext cx="11931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 · Connect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888015" y="3797300"/>
                <a:ext cx="6826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 · Bid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026678" y="3797300"/>
                <a:ext cx="13776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3 · Go offline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586330" y="4495800"/>
              <a:ext cx="9057217" cy="293370"/>
              <a:chOff x="1586330" y="4495800"/>
              <a:chExt cx="9057217" cy="29337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586330" y="4495800"/>
                <a:ext cx="20470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negotiate → handshake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92732" y="4495800"/>
                <a:ext cx="28732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bid → broadcast → update clients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87453" y="4495800"/>
                <a:ext cx="18560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reconnect or give up</a:t>
                </a:r>
              </a:p>
            </p:txBody>
          </p:sp>
        </p:grpSp>
      </p:grpSp>
      <p:grpSp>
        <p:nvGrpSpPr>
          <p:cNvPr id="23" name="demo-link"/>
          <p:cNvGrpSpPr/>
          <p:nvPr/>
        </p:nvGrpSpPr>
        <p:grpSpPr>
          <a:xfrm>
            <a:off x="660400" y="5416550"/>
            <a:ext cx="10936478" cy="557403"/>
            <a:chOff x="660400" y="5416550"/>
            <a:chExt cx="10936478" cy="557403"/>
          </a:xfrm>
        </p:grpSpPr>
        <p:grpSp>
          <p:nvGrpSpPr>
            <p:cNvPr id="20" name="Group 20"/>
            <p:cNvGrpSpPr/>
            <p:nvPr/>
          </p:nvGrpSpPr>
          <p:grpSpPr>
            <a:xfrm>
              <a:off x="660400" y="5518150"/>
              <a:ext cx="203199" cy="203199"/>
              <a:chOff x="660400" y="5518150"/>
              <a:chExt cx="203199" cy="20319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60400" y="5568950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60400" y="551815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  <a:cubicBezTo>
                      <a:pt x="191828" y="0"/>
                      <a:pt x="203199" y="11372"/>
                      <a:pt x="203199" y="25400"/>
                    </a:cubicBezTo>
                    <a:lnTo>
                      <a:pt x="203199" y="177800"/>
                    </a:lnTo>
                    <a:cubicBezTo>
                      <a:pt x="203199" y="191828"/>
                      <a:pt x="191828" y="203199"/>
                      <a:pt x="177800" y="203199"/>
                    </a:cubicBez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1200" y="55181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20318" y="5511800"/>
              <a:ext cx="17568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SignalR BidLab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24000" y="5416550"/>
              <a:ext cx="187287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28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Questions?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90550" y="571500"/>
            <a:ext cx="10678686" cy="1038225"/>
            <a:chOff x="590550" y="571500"/>
            <a:chExt cx="10678686" cy="1038225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571500"/>
              <a:ext cx="21385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Backup · Scale-out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876300"/>
              <a:ext cx="10054053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Redis backplane: one message, every server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8915400" y="666750"/>
              <a:ext cx="209550" cy="13335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195054" y="638175"/>
              <a:ext cx="1120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Geronimo code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39400" y="666750"/>
              <a:ext cx="209550" cy="133350"/>
            </a:xfrm>
            <a:prstGeom prst="roundRect">
              <a:avLst>
                <a:gd name="adj" fmla="val 14286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266667" sp="200000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719054" y="638175"/>
              <a:ext cx="550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</a:t>
              </a:r>
            </a:p>
          </p:txBody>
        </p:sp>
      </p:grpSp>
      <p:grpSp>
        <p:nvGrpSpPr>
          <p:cNvPr id="15" name="clients"/>
          <p:cNvGrpSpPr/>
          <p:nvPr/>
        </p:nvGrpSpPr>
        <p:grpSpPr>
          <a:xfrm>
            <a:off x="609600" y="1866900"/>
            <a:ext cx="7296150" cy="571500"/>
            <a:chOff x="609600" y="1866900"/>
            <a:chExt cx="7296150" cy="571500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3238500" cy="571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1718" y="1930400"/>
              <a:ext cx="1436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Anna · bidder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004" y="2190750"/>
              <a:ext cx="15985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connected to Server 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667250" y="1866900"/>
              <a:ext cx="3238500" cy="571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49368" y="1930400"/>
              <a:ext cx="15628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Ben · watching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51654" y="2190750"/>
              <a:ext cx="1586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connected to Server B</a:t>
              </a:r>
            </a:p>
          </p:txBody>
        </p:sp>
      </p:grpSp>
      <p:grpSp>
        <p:nvGrpSpPr>
          <p:cNvPr id="26" name="server-a"/>
          <p:cNvGrpSpPr/>
          <p:nvPr/>
        </p:nvGrpSpPr>
        <p:grpSpPr>
          <a:xfrm>
            <a:off x="609600" y="2857500"/>
            <a:ext cx="3238500" cy="1924050"/>
            <a:chOff x="609600" y="2857500"/>
            <a:chExt cx="3238500" cy="1924050"/>
          </a:xfrm>
        </p:grpSpPr>
        <p:sp>
          <p:nvSpPr>
            <p:cNvPr id="16" name="Rectangle 16"/>
            <p:cNvSpPr/>
            <p:nvPr/>
          </p:nvSpPr>
          <p:spPr>
            <a:xfrm>
              <a:off x="609600" y="2857500"/>
              <a:ext cx="3238500" cy="192405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1718" y="2940050"/>
              <a:ext cx="9104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96546" y="2990850"/>
              <a:ext cx="1167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holds Anna only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0100" y="3295650"/>
              <a:ext cx="2857500" cy="59055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26592" y="3378200"/>
              <a:ext cx="2238938" cy="492633"/>
              <a:chOff x="926592" y="3378200"/>
              <a:chExt cx="2238938" cy="492633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926592" y="3378200"/>
                <a:ext cx="22389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Clients.All.SendAsync(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17092" y="3606800"/>
                <a:ext cx="18230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"updateItem", ...)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800100" y="4038600"/>
              <a:ext cx="2857500" cy="590550"/>
            </a:xfrm>
            <a:prstGeom prst="roundRect">
              <a:avLst>
                <a:gd name="adj" fmla="val 6452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5830" y="4108450"/>
              <a:ext cx="2033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HubLifetimeManager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7354" y="4362450"/>
              <a:ext cx="2468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knows only Server A's connections</a:t>
              </a:r>
            </a:p>
          </p:txBody>
        </p:sp>
      </p:grpSp>
      <p:grpSp>
        <p:nvGrpSpPr>
          <p:cNvPr id="35" name="server-b"/>
          <p:cNvGrpSpPr/>
          <p:nvPr/>
        </p:nvGrpSpPr>
        <p:grpSpPr>
          <a:xfrm>
            <a:off x="4667250" y="2857500"/>
            <a:ext cx="3238500" cy="1924050"/>
            <a:chOff x="4667250" y="2857500"/>
            <a:chExt cx="3238500" cy="1924050"/>
          </a:xfrm>
        </p:grpSpPr>
        <p:sp>
          <p:nvSpPr>
            <p:cNvPr id="27" name="Rectangle 27"/>
            <p:cNvSpPr/>
            <p:nvPr/>
          </p:nvSpPr>
          <p:spPr>
            <a:xfrm>
              <a:off x="4667250" y="2857500"/>
              <a:ext cx="3238500" cy="1924050"/>
            </a:xfrm>
            <a:prstGeom prst="roundRect">
              <a:avLst>
                <a:gd name="adj" fmla="val 1980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49368" y="2940050"/>
              <a:ext cx="896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 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4960" y="2990850"/>
              <a:ext cx="1066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holds Ben only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857750" y="3295650"/>
              <a:ext cx="2857500" cy="59055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  <a:custDash>
                <a:ds d="400000" sp="266667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22342" y="3482975"/>
              <a:ext cx="2302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BidHub.AddBid not run here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857750" y="4038600"/>
              <a:ext cx="2857500" cy="590550"/>
            </a:xfrm>
            <a:prstGeom prst="roundRect">
              <a:avLst>
                <a:gd name="adj" fmla="val 6452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983480" y="4108450"/>
              <a:ext cx="2033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HubLifetimeManager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85004" y="4362450"/>
              <a:ext cx="24565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knows only Server B's connections</a:t>
              </a:r>
            </a:p>
          </p:txBody>
        </p:sp>
      </p:grpSp>
      <p:grpSp>
        <p:nvGrpSpPr>
          <p:cNvPr id="48" name="flow-top"/>
          <p:cNvGrpSpPr/>
          <p:nvPr/>
        </p:nvGrpSpPr>
        <p:grpSpPr>
          <a:xfrm>
            <a:off x="885825" y="2457450"/>
            <a:ext cx="6738442" cy="381000"/>
            <a:chOff x="885825" y="2457450"/>
            <a:chExt cx="6738442" cy="381000"/>
          </a:xfrm>
        </p:grpSpPr>
        <p:sp>
          <p:nvSpPr>
            <p:cNvPr id="36" name="Line 36"/>
            <p:cNvSpPr/>
            <p:nvPr/>
          </p:nvSpPr>
          <p:spPr>
            <a:xfrm>
              <a:off x="1238250" y="2457450"/>
              <a:ext cx="1" cy="381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7" name="Ellipse 37"/>
            <p:cNvSpPr/>
            <p:nvPr/>
          </p:nvSpPr>
          <p:spPr>
            <a:xfrm>
              <a:off x="885825" y="252412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7094" y="2552700"/>
              <a:ext cx="105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84554" y="2565400"/>
              <a:ext cx="1447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invoke("AddBid")</a:t>
              </a:r>
            </a:p>
          </p:txBody>
        </p:sp>
        <p:sp>
          <p:nvSpPr>
            <p:cNvPr id="40" name="Line 40"/>
            <p:cNvSpPr/>
            <p:nvPr/>
          </p:nvSpPr>
          <p:spPr>
            <a:xfrm flipV="1">
              <a:off x="3333750" y="2457450"/>
              <a:ext cx="1" cy="3810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dash"/>
              <a:tailEnd type="triangle" w="lg" len="lg"/>
            </a:ln>
          </p:spPr>
        </p:sp>
        <p:sp>
          <p:nvSpPr>
            <p:cNvPr id="41" name="Ellipse 41"/>
            <p:cNvSpPr/>
            <p:nvPr/>
          </p:nvSpPr>
          <p:spPr>
            <a:xfrm>
              <a:off x="2981325" y="252412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052594" y="2552700"/>
              <a:ext cx="105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99104" y="2565400"/>
              <a:ext cx="905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updateItem</a:t>
              </a:r>
            </a:p>
          </p:txBody>
        </p:sp>
        <p:sp>
          <p:nvSpPr>
            <p:cNvPr id="44" name="Line 44"/>
            <p:cNvSpPr/>
            <p:nvPr/>
          </p:nvSpPr>
          <p:spPr>
            <a:xfrm flipV="1">
              <a:off x="6286500" y="2457450"/>
              <a:ext cx="1" cy="3810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dash"/>
              <a:tailEnd type="triangle" w="lg" len="lg"/>
            </a:ln>
          </p:spPr>
        </p:sp>
        <p:sp>
          <p:nvSpPr>
            <p:cNvPr id="45" name="Ellipse 45"/>
            <p:cNvSpPr/>
            <p:nvPr/>
          </p:nvSpPr>
          <p:spPr>
            <a:xfrm>
              <a:off x="6391275" y="252412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62544" y="2552700"/>
              <a:ext cx="105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18554" y="2565400"/>
              <a:ext cx="905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updateItem</a:t>
              </a:r>
            </a:p>
          </p:txBody>
        </p:sp>
      </p:grpSp>
      <p:grpSp>
        <p:nvGrpSpPr>
          <p:cNvPr id="57" name="flow-bottom"/>
          <p:cNvGrpSpPr/>
          <p:nvPr/>
        </p:nvGrpSpPr>
        <p:grpSpPr>
          <a:xfrm>
            <a:off x="1876425" y="4800600"/>
            <a:ext cx="5905981" cy="514350"/>
            <a:chOff x="1876425" y="4800600"/>
            <a:chExt cx="5905981" cy="514350"/>
          </a:xfrm>
        </p:grpSpPr>
        <p:sp>
          <p:nvSpPr>
            <p:cNvPr id="49" name="Line 49"/>
            <p:cNvSpPr/>
            <p:nvPr/>
          </p:nvSpPr>
          <p:spPr>
            <a:xfrm>
              <a:off x="2228850" y="4800600"/>
              <a:ext cx="1" cy="4953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dash"/>
              <a:tailEnd type="triangle" w="lg" len="lg"/>
            </a:ln>
          </p:spPr>
        </p:sp>
        <p:sp>
          <p:nvSpPr>
            <p:cNvPr id="50" name="Ellipse 50"/>
            <p:cNvSpPr/>
            <p:nvPr/>
          </p:nvSpPr>
          <p:spPr>
            <a:xfrm>
              <a:off x="1876425" y="492442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947694" y="4953000"/>
              <a:ext cx="105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413254" y="4953000"/>
              <a:ext cx="5704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publish</a:t>
              </a:r>
            </a:p>
          </p:txBody>
        </p:sp>
        <p:sp>
          <p:nvSpPr>
            <p:cNvPr id="53" name="Line 53"/>
            <p:cNvSpPr/>
            <p:nvPr/>
          </p:nvSpPr>
          <p:spPr>
            <a:xfrm flipV="1">
              <a:off x="6286500" y="4819650"/>
              <a:ext cx="1" cy="4953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prstDash val="dash"/>
              <a:tailEnd type="triangle" w="lg" len="lg"/>
            </a:ln>
          </p:spPr>
        </p:sp>
        <p:sp>
          <p:nvSpPr>
            <p:cNvPr id="54" name="Ellipse 54"/>
            <p:cNvSpPr/>
            <p:nvPr/>
          </p:nvSpPr>
          <p:spPr>
            <a:xfrm>
              <a:off x="6391275" y="492442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62544" y="4953000"/>
              <a:ext cx="105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80454" y="4953000"/>
              <a:ext cx="1101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same message</a:t>
              </a:r>
            </a:p>
          </p:txBody>
        </p:sp>
      </p:grpSp>
      <p:grpSp>
        <p:nvGrpSpPr>
          <p:cNvPr id="67" name="redis"/>
          <p:cNvGrpSpPr/>
          <p:nvPr/>
        </p:nvGrpSpPr>
        <p:grpSpPr>
          <a:xfrm>
            <a:off x="609600" y="5334000"/>
            <a:ext cx="7296150" cy="838200"/>
            <a:chOff x="609600" y="5334000"/>
            <a:chExt cx="7296150" cy="838200"/>
          </a:xfrm>
        </p:grpSpPr>
        <p:sp>
          <p:nvSpPr>
            <p:cNvPr id="58" name="Rectangle 58"/>
            <p:cNvSpPr/>
            <p:nvPr/>
          </p:nvSpPr>
          <p:spPr>
            <a:xfrm>
              <a:off x="609600" y="5334000"/>
              <a:ext cx="7296150" cy="838200"/>
            </a:xfrm>
            <a:prstGeom prst="roundRect">
              <a:avLst>
                <a:gd name="adj" fmla="val 4545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38200" y="5591175"/>
              <a:ext cx="152400" cy="171450"/>
              <a:chOff x="838200" y="5591175"/>
              <a:chExt cx="152400" cy="1714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8200" y="559117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56197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56769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116330" y="5562600"/>
              <a:ext cx="1555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Redis backplane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4004" y="5886450"/>
              <a:ext cx="3576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Pub/Sub between servers · SignalR messages only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048250" y="5524500"/>
              <a:ext cx="2667000" cy="4572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25742" y="5657850"/>
              <a:ext cx="23120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.AddStackExchangeRedis()</a:t>
              </a:r>
            </a:p>
          </p:txBody>
        </p:sp>
      </p:grpSp>
      <p:grpSp>
        <p:nvGrpSpPr>
          <p:cNvPr id="80" name="does"/>
          <p:cNvGrpSpPr/>
          <p:nvPr/>
        </p:nvGrpSpPr>
        <p:grpSpPr>
          <a:xfrm>
            <a:off x="8191500" y="1866900"/>
            <a:ext cx="3390900" cy="2209800"/>
            <a:chOff x="8191500" y="1866900"/>
            <a:chExt cx="3390900" cy="2209800"/>
          </a:xfrm>
        </p:grpSpPr>
        <p:sp>
          <p:nvSpPr>
            <p:cNvPr id="68" name="Rectangle 68"/>
            <p:cNvSpPr/>
            <p:nvPr/>
          </p:nvSpPr>
          <p:spPr>
            <a:xfrm>
              <a:off x="8191500" y="1866900"/>
              <a:ext cx="3390900" cy="2209800"/>
            </a:xfrm>
            <a:prstGeom prst="roundRect">
              <a:avLst>
                <a:gd name="adj" fmla="val 1724"/>
              </a:avLst>
            </a:prstGeom>
            <a:solidFill>
              <a:srgbClr val="F1EBFD"/>
            </a:solidFill>
            <a:ln w="14288">
              <a:solidFill>
                <a:schemeClr val="accent3"/>
              </a:solidFill>
              <a:custDash>
                <a:ds d="466667" sp="333333"/>
              </a:custDash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374380" y="1981200"/>
              <a:ext cx="1227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What it does</a:t>
              </a:r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8401050" y="2387600"/>
              <a:ext cx="2607018" cy="1599946"/>
              <a:chOff x="8401050" y="2387600"/>
              <a:chExt cx="2607018" cy="1599946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401050" y="245745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8584692" y="2387600"/>
                <a:ext cx="20076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Relays SignalR messages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584692" y="2616200"/>
                <a:ext cx="21691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between servers (Pub/Sub)</a:t>
                </a:r>
              </a:p>
            </p:txBody>
          </p:sp>
          <p:sp>
            <p:nvSpPr>
              <p:cNvPr id="73" name="Ellipse 73"/>
              <p:cNvSpPr/>
              <p:nvPr/>
            </p:nvSpPr>
            <p:spPr>
              <a:xfrm>
                <a:off x="8401050" y="302895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8584692" y="2959100"/>
                <a:ext cx="19605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Clients.All · Group · User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584692" y="3187700"/>
                <a:ext cx="21369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reach every server's clients</a:t>
                </a:r>
              </a:p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8401050" y="360045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584692" y="3530600"/>
                <a:ext cx="242337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Your hub code stays the same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585454" y="3752850"/>
                <a:ext cx="20986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only the manager is swapped</a:t>
                </a:r>
              </a:p>
            </p:txBody>
          </p:sp>
        </p:grpSp>
      </p:grpSp>
      <p:grpSp>
        <p:nvGrpSpPr>
          <p:cNvPr id="92" name="does-not"/>
          <p:cNvGrpSpPr/>
          <p:nvPr/>
        </p:nvGrpSpPr>
        <p:grpSpPr>
          <a:xfrm>
            <a:off x="8191500" y="4229100"/>
            <a:ext cx="3390900" cy="1946783"/>
            <a:chOff x="8191500" y="4229100"/>
            <a:chExt cx="3390900" cy="1946783"/>
          </a:xfrm>
        </p:grpSpPr>
        <p:sp>
          <p:nvSpPr>
            <p:cNvPr id="81" name="Rectangle 81"/>
            <p:cNvSpPr/>
            <p:nvPr/>
          </p:nvSpPr>
          <p:spPr>
            <a:xfrm>
              <a:off x="8191500" y="4229100"/>
              <a:ext cx="3390900" cy="1943100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374380" y="4343400"/>
              <a:ext cx="1912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What it does not do</a:t>
              </a:r>
            </a:p>
          </p:txBody>
        </p:sp>
        <p:grpSp>
          <p:nvGrpSpPr>
            <p:cNvPr id="91" name="Group 91"/>
            <p:cNvGrpSpPr/>
            <p:nvPr/>
          </p:nvGrpSpPr>
          <p:grpSpPr>
            <a:xfrm>
              <a:off x="8401050" y="4749800"/>
              <a:ext cx="2171796" cy="1426083"/>
              <a:chOff x="8401050" y="4749800"/>
              <a:chExt cx="2171796" cy="1426083"/>
            </a:xfrm>
          </p:grpSpPr>
          <p:sp>
            <p:nvSpPr>
              <p:cNvPr id="83" name="Ellipse 83"/>
              <p:cNvSpPr/>
              <p:nvPr/>
            </p:nvSpPr>
            <p:spPr>
              <a:xfrm>
                <a:off x="8401050" y="4819650"/>
                <a:ext cx="76200" cy="76200"/>
              </a:xfrm>
              <a:prstGeom prst="ellipse">
                <a:avLst/>
              </a:prstGeom>
              <a:solidFill>
                <a:srgbClr val="B36A13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8584692" y="4749800"/>
                <a:ext cx="15275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Move connections: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584692" y="4978400"/>
                <a:ext cx="19736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sticky sessions still apply</a:t>
                </a:r>
              </a:p>
            </p:txBody>
          </p:sp>
          <p:sp>
            <p:nvSpPr>
              <p:cNvPr id="86" name="Ellipse 86"/>
              <p:cNvSpPr/>
              <p:nvPr/>
            </p:nvSpPr>
            <p:spPr>
              <a:xfrm>
                <a:off x="8401050" y="5429250"/>
                <a:ext cx="76200" cy="76200"/>
              </a:xfrm>
              <a:prstGeom prst="ellipse">
                <a:avLst/>
              </a:prstGeom>
              <a:solidFill>
                <a:srgbClr val="B36A13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584692" y="5359400"/>
                <a:ext cx="19881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Replay messages missed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8584692" y="5588000"/>
                <a:ext cx="19611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while a client was offline</a:t>
                </a:r>
              </a:p>
            </p:txBody>
          </p:sp>
          <p:sp>
            <p:nvSpPr>
              <p:cNvPr id="89" name="Ellipse 89"/>
              <p:cNvSpPr/>
              <p:nvPr/>
            </p:nvSpPr>
            <p:spPr>
              <a:xfrm>
                <a:off x="8401050" y="5981700"/>
                <a:ext cx="76200" cy="76200"/>
              </a:xfrm>
              <a:prstGeom prst="ellipse">
                <a:avLst/>
              </a:prstGeom>
              <a:solidFill>
                <a:srgbClr val="B36A13"/>
              </a:solidFill>
              <a:ln>
                <a:noFill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8584692" y="5911850"/>
                <a:ext cx="17292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Replace the database</a:t>
                </a:r>
              </a:p>
            </p:txBody>
          </p:sp>
        </p:grpSp>
      </p:grpSp>
      <p:grpSp>
        <p:nvGrpSpPr>
          <p:cNvPr id="95" name="footer"/>
          <p:cNvGrpSpPr/>
          <p:nvPr/>
        </p:nvGrpSpPr>
        <p:grpSpPr>
          <a:xfrm>
            <a:off x="603504" y="6362700"/>
            <a:ext cx="10984992" cy="234696"/>
            <a:chOff x="603504" y="6362700"/>
            <a:chExt cx="10984992" cy="234696"/>
          </a:xfrm>
        </p:grpSpPr>
        <p:sp>
          <p:nvSpPr>
            <p:cNvPr id="93" name="TextBox 93"/>
            <p:cNvSpPr txBox="1"/>
            <p:nvPr/>
          </p:nvSpPr>
          <p:spPr>
            <a:xfrm>
              <a:off x="603504" y="6362700"/>
              <a:ext cx="24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SignalR — More Than WebSocket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402127" y="6362700"/>
              <a:ext cx="186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ignalr_sharing">
  <a:themeElements>
    <a:clrScheme name="signalr_sharing">
      <a:dk1>
        <a:srgbClr val="243B53"/>
      </a:dk1>
      <a:lt1>
        <a:srgbClr val="F7F9FC"/>
      </a:lt1>
      <a:dk2>
        <a:srgbClr val="1F497D"/>
      </a:dk2>
      <a:lt2>
        <a:srgbClr val="E8F4F8"/>
      </a:lt2>
      <a:accent1>
        <a:srgbClr val="102A43"/>
      </a:accent1>
      <a:accent2>
        <a:srgbClr val="007F9E"/>
      </a:accent2>
      <a:accent3>
        <a:srgbClr val="5B21B6"/>
      </a:accent3>
      <a:accent4>
        <a:srgbClr val="102A43"/>
      </a:accent4>
      <a:accent5>
        <a:srgbClr val="526B80"/>
      </a:accent5>
      <a:accent6>
        <a:srgbClr val="CAD7E2"/>
      </a:accent6>
      <a:hlink>
        <a:srgbClr val="007F9E"/>
      </a:hlink>
      <a:folHlink>
        <a:srgbClr val="5B21B6"/>
      </a:folHlink>
    </a:clrScheme>
    <a:fontScheme name="signalr_sharing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gnalr_sha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2026-10-30T02:43:41Z</dcterms:created>
  <dcterms:modified xsi:type="dcterms:W3CDTF">2026-10-30T02:43:41Z</dcterms:modified>
  <cp:category/>
  <cp:contentStatus/>
</cp:coreProperties>
</file>