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16x9"/>
  <p:notesSz cx="6858000" cy="9144000"/>
  <p:defaultTextStyle>
    <a:defPPr>
      <a:defRPr lang="en"/>
    </a:defPPr>
    <a:lvl1pPr marL="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e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ignalr_sharing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ignalr_sharing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" smtClean="0"/>
              <a:t>1/27/13</a:t>
            </a:fld>
            <a:endParaRPr lang="e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e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" smtClean="0"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750" kern="1200" lang="e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1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95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5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7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5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e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"/>
      </a:defPPr>
      <a:lvl1pPr marL="0" algn="l" defTabSz="457200" rtl="0" eaLnBrk="1" latinLnBrk="0" hangingPunct="1">
        <a:defRPr sz="2100" kern="1200" lang="e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950" kern="1200" lang="e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50" kern="1200" lang="e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700" kern="1200" lang="e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600" kern="1200" lang="e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450" kern="1200" lang="e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00" kern="1200" lang="e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200" kern="1200" lang="e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050" kern="1200" lang="e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kicker"/>
          <p:cNvGrpSpPr/>
          <p:nvPr/>
        </p:nvGrpSpPr>
        <p:grpSpPr>
          <a:xfrm>
            <a:off x="601980" y="1028700"/>
            <a:ext cx="2345502" cy="293370"/>
            <a:chOff x="601980" y="1028700"/>
            <a:chExt cx="2345502" cy="293370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1028700"/>
              <a:ext cx="23455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Tech sharing · Geronimo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0550" y="1562100"/>
            <a:ext cx="4040505" cy="3105150"/>
            <a:chOff x="590550" y="1562100"/>
            <a:chExt cx="4040505" cy="3105150"/>
          </a:xfrm>
        </p:grpSpPr>
        <p:sp>
          <p:nvSpPr>
            <p:cNvPr id="4" name="TextBox 4"/>
            <p:cNvSpPr txBox="1"/>
            <p:nvPr/>
          </p:nvSpPr>
          <p:spPr>
            <a:xfrm>
              <a:off x="590550" y="1562100"/>
              <a:ext cx="4040505" cy="3105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7200"/>
                </a:lnSpc>
              </a:pPr>
              <a: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SignalR —</a:t>
              </a:r>
              <a:b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More Than</a:t>
              </a:r>
              <a:b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660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WebSocket</a:t>
              </a:r>
            </a:p>
          </p:txBody>
        </p:sp>
      </p:grpSp>
      <p:grpSp>
        <p:nvGrpSpPr>
          <p:cNvPr id="7" name="hook"/>
          <p:cNvGrpSpPr/>
          <p:nvPr/>
        </p:nvGrpSpPr>
        <p:grpSpPr>
          <a:xfrm>
            <a:off x="595122" y="4559300"/>
            <a:ext cx="7310810" cy="557403"/>
            <a:chOff x="595122" y="4559300"/>
            <a:chExt cx="7310810" cy="557403"/>
          </a:xfrm>
        </p:grpSpPr>
        <p:sp>
          <p:nvSpPr>
            <p:cNvPr id="6" name="TextBox 6"/>
            <p:cNvSpPr txBox="1"/>
            <p:nvPr/>
          </p:nvSpPr>
          <p:spPr>
            <a:xfrm>
              <a:off x="595122" y="4559300"/>
              <a:ext cx="731081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i="1" dirty="0">
                  <a:solidFill>
                    <a:schemeClr val="dk1"/>
                  </a:solidFill>
                  <a:latin typeface="+mj-lt"/>
                  <a:ea typeface="+mj-ea"/>
                  <a:cs typeface="+mj-cs"/>
                </a:rPr>
                <a:t>One click. Every screen. Who did the work?</a:t>
              </a:r>
            </a:p>
          </p:txBody>
        </p:sp>
      </p:grpSp>
      <p:grpSp>
        <p:nvGrpSpPr>
          <p:cNvPr id="10" name="presenter"/>
          <p:cNvGrpSpPr/>
          <p:nvPr/>
        </p:nvGrpSpPr>
        <p:grpSpPr>
          <a:xfrm>
            <a:off x="601218" y="5295900"/>
            <a:ext cx="7209282" cy="614807"/>
            <a:chOff x="601218" y="5295900"/>
            <a:chExt cx="7209282" cy="614807"/>
          </a:xfrm>
        </p:grpSpPr>
        <p:sp>
          <p:nvSpPr>
            <p:cNvPr id="8" name="Line 8"/>
            <p:cNvSpPr/>
            <p:nvPr/>
          </p:nvSpPr>
          <p:spPr>
            <a:xfrm>
              <a:off x="609600" y="5295900"/>
              <a:ext cx="7200900" cy="9525"/>
            </a:xfrm>
            <a:custGeom>
              <a:avLst/>
              <a:gdLst/>
              <a:ahLst/>
              <a:cxnLst/>
              <a:rect l="l" t="t" r="r" b="b"/>
              <a:pathLst>
                <a:path w="7200900" h="9525">
                  <a:moveTo>
                    <a:pt x="0" y="0"/>
                  </a:moveTo>
                  <a:lnTo>
                    <a:pt x="72009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01218" y="5588000"/>
              <a:ext cx="45137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Tavian Nguyen · Geronimo team · 23/10/2026</a:t>
              </a:r>
            </a:p>
          </p:txBody>
        </p:sp>
      </p:grpSp>
      <p:grpSp>
        <p:nvGrpSpPr>
          <p:cNvPr id="18" name="browser-an"/>
          <p:cNvGrpSpPr/>
          <p:nvPr/>
        </p:nvGrpSpPr>
        <p:grpSpPr>
          <a:xfrm>
            <a:off x="8572500" y="1428750"/>
            <a:ext cx="3009900" cy="1657350"/>
            <a:chOff x="8572500" y="1428750"/>
            <a:chExt cx="3009900" cy="1657350"/>
          </a:xfrm>
        </p:grpSpPr>
        <p:sp>
          <p:nvSpPr>
            <p:cNvPr id="11" name="Rectangle 11"/>
            <p:cNvSpPr/>
            <p:nvPr/>
          </p:nvSpPr>
          <p:spPr>
            <a:xfrm>
              <a:off x="8572500" y="1428750"/>
              <a:ext cx="3009900" cy="1657350"/>
            </a:xfrm>
            <a:prstGeom prst="roundRect">
              <a:avLst>
                <a:gd name="adj" fmla="val 229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8572500" y="1428750"/>
              <a:ext cx="3009900" cy="285750"/>
            </a:xfrm>
            <a:prstGeom prst="roundRect">
              <a:avLst>
                <a:gd name="adj" fmla="val 1333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699754" y="1476375"/>
              <a:ext cx="4137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Anna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56954" y="1489075"/>
              <a:ext cx="100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…/Item/1042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795004" y="1885950"/>
              <a:ext cx="11861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Current high bid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82050" y="2076450"/>
              <a:ext cx="159872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$1,300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793480" y="2705100"/>
              <a:ext cx="15671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You are winning</a:t>
              </a:r>
            </a:p>
          </p:txBody>
        </p:sp>
      </p:grpSp>
      <p:grpSp>
        <p:nvGrpSpPr>
          <p:cNvPr id="22" name="signalr-band"/>
          <p:cNvGrpSpPr/>
          <p:nvPr/>
        </p:nvGrpSpPr>
        <p:grpSpPr>
          <a:xfrm>
            <a:off x="8572500" y="3238500"/>
            <a:ext cx="3009900" cy="685800"/>
            <a:chOff x="8572500" y="3238500"/>
            <a:chExt cx="3009900" cy="685800"/>
          </a:xfrm>
        </p:grpSpPr>
        <p:sp>
          <p:nvSpPr>
            <p:cNvPr id="19" name="Rectangle 19"/>
            <p:cNvSpPr/>
            <p:nvPr/>
          </p:nvSpPr>
          <p:spPr>
            <a:xfrm>
              <a:off x="8572500" y="3238500"/>
              <a:ext cx="3009900" cy="685800"/>
            </a:xfrm>
            <a:prstGeom prst="roundRect">
              <a:avLst>
                <a:gd name="adj" fmla="val 5556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717280" y="3457575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107930" y="3470275"/>
              <a:ext cx="11321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updateItem</a:t>
              </a:r>
            </a:p>
          </p:txBody>
        </p:sp>
      </p:grpSp>
      <p:sp>
        <p:nvSpPr>
          <p:cNvPr id="23" name="Freeform 23"/>
          <p:cNvSpPr/>
          <p:nvPr/>
        </p:nvSpPr>
        <p:spPr>
          <a:xfrm>
            <a:off x="9639300" y="3333750"/>
            <a:ext cx="342900" cy="495300"/>
          </a:xfrm>
          <a:prstGeom prst="downArrow">
            <a:avLst/>
          </a:prstGeom>
          <a:solidFill>
            <a:schemeClr val="accent3"/>
          </a:solidFill>
          <a:ln>
            <a:noFill/>
          </a:ln>
        </p:spPr>
      </p:sp>
      <p:grpSp>
        <p:nvGrpSpPr>
          <p:cNvPr id="31" name="browser-binh"/>
          <p:cNvGrpSpPr/>
          <p:nvPr/>
        </p:nvGrpSpPr>
        <p:grpSpPr>
          <a:xfrm>
            <a:off x="8572500" y="4076700"/>
            <a:ext cx="3009900" cy="1657350"/>
            <a:chOff x="8572500" y="4076700"/>
            <a:chExt cx="3009900" cy="1657350"/>
          </a:xfrm>
        </p:grpSpPr>
        <p:sp>
          <p:nvSpPr>
            <p:cNvPr id="24" name="Rectangle 24"/>
            <p:cNvSpPr/>
            <p:nvPr/>
          </p:nvSpPr>
          <p:spPr>
            <a:xfrm>
              <a:off x="8572500" y="4076700"/>
              <a:ext cx="3009900" cy="1657350"/>
            </a:xfrm>
            <a:prstGeom prst="roundRect">
              <a:avLst>
                <a:gd name="adj" fmla="val 229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572500" y="4076700"/>
              <a:ext cx="3009900" cy="285750"/>
            </a:xfrm>
            <a:prstGeom prst="roundRect">
              <a:avLst>
                <a:gd name="adj" fmla="val 13333"/>
              </a:avLst>
            </a:prstGeom>
            <a:solidFill>
              <a:schemeClr val="l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699754" y="4124325"/>
              <a:ext cx="30633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b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Ben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061704" y="4137025"/>
              <a:ext cx="10033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…/Item/1042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795004" y="4533900"/>
              <a:ext cx="11861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Current high bid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782050" y="4724400"/>
              <a:ext cx="159872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$1,300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93480" y="5353050"/>
              <a:ext cx="2104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You have been outbid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541391" cy="1000125"/>
            <a:chOff x="590550" y="609600"/>
            <a:chExt cx="7541391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2310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The moment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541391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Anna clicks. Ben’s price changes.</a:t>
              </a:r>
            </a:p>
          </p:txBody>
        </p:sp>
      </p:grpSp>
      <p:grpSp>
        <p:nvGrpSpPr>
          <p:cNvPr id="25" name="moment"/>
          <p:cNvGrpSpPr/>
          <p:nvPr/>
        </p:nvGrpSpPr>
        <p:grpSpPr>
          <a:xfrm>
            <a:off x="652462" y="2051050"/>
            <a:ext cx="3961353" cy="3288157"/>
            <a:chOff x="652462" y="2051050"/>
            <a:chExt cx="3961353" cy="3288157"/>
          </a:xfrm>
        </p:grpSpPr>
        <p:grpSp>
          <p:nvGrpSpPr>
            <p:cNvPr id="13" name="Group 13"/>
            <p:cNvGrpSpPr/>
            <p:nvPr/>
          </p:nvGrpSpPr>
          <p:grpSpPr>
            <a:xfrm>
              <a:off x="652462" y="2066925"/>
              <a:ext cx="242888" cy="285755"/>
              <a:chOff x="652462" y="2066925"/>
              <a:chExt cx="242888" cy="285755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23900" y="2081212"/>
                <a:ext cx="42862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142875">
                    <a:moveTo>
                      <a:pt x="0" y="142875"/>
                    </a:moveTo>
                    <a:lnTo>
                      <a:pt x="0" y="21431"/>
                    </a:lnTo>
                    <a:cubicBezTo>
                      <a:pt x="0" y="9595"/>
                      <a:pt x="9595" y="0"/>
                      <a:pt x="21431" y="0"/>
                    </a:cubicBezTo>
                    <a:cubicBezTo>
                      <a:pt x="33267" y="0"/>
                      <a:pt x="42862" y="9595"/>
                      <a:pt x="42862" y="21431"/>
                    </a:cubicBezTo>
                    <a:lnTo>
                      <a:pt x="42862" y="128588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766762" y="2152650"/>
                <a:ext cx="42862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57150">
                    <a:moveTo>
                      <a:pt x="0" y="50006"/>
                    </a:moveTo>
                    <a:lnTo>
                      <a:pt x="0" y="21431"/>
                    </a:lnTo>
                    <a:cubicBezTo>
                      <a:pt x="0" y="9595"/>
                      <a:pt x="9595" y="0"/>
                      <a:pt x="21431" y="0"/>
                    </a:cubicBezTo>
                    <a:cubicBezTo>
                      <a:pt x="33267" y="0"/>
                      <a:pt x="42862" y="9595"/>
                      <a:pt x="42862" y="21431"/>
                    </a:cubicBezTo>
                    <a:lnTo>
                      <a:pt x="42862" y="5715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09625" y="2166938"/>
                <a:ext cx="42862" cy="4286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42862">
                    <a:moveTo>
                      <a:pt x="0" y="21431"/>
                    </a:moveTo>
                    <a:cubicBezTo>
                      <a:pt x="0" y="9595"/>
                      <a:pt x="9595" y="0"/>
                      <a:pt x="21431" y="0"/>
                    </a:cubicBezTo>
                    <a:cubicBezTo>
                      <a:pt x="33267" y="0"/>
                      <a:pt x="42862" y="9595"/>
                      <a:pt x="42862" y="21431"/>
                    </a:cubicBezTo>
                    <a:lnTo>
                      <a:pt x="42862" y="42862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656973" y="2181225"/>
                <a:ext cx="238377" cy="171455"/>
              </a:xfrm>
              <a:custGeom>
                <a:avLst/>
                <a:gdLst/>
                <a:ahLst/>
                <a:cxnLst/>
                <a:rect l="l" t="t" r="r" b="b"/>
                <a:pathLst>
                  <a:path w="238377" h="171455">
                    <a:moveTo>
                      <a:pt x="195514" y="21431"/>
                    </a:moveTo>
                    <a:cubicBezTo>
                      <a:pt x="195514" y="9595"/>
                      <a:pt x="205109" y="0"/>
                      <a:pt x="216946" y="0"/>
                    </a:cubicBezTo>
                    <a:cubicBezTo>
                      <a:pt x="228782" y="0"/>
                      <a:pt x="238377" y="9595"/>
                      <a:pt x="238377" y="21431"/>
                    </a:cubicBezTo>
                    <a:lnTo>
                      <a:pt x="238377" y="85725"/>
                    </a:lnTo>
                    <a:cubicBezTo>
                      <a:pt x="238377" y="133070"/>
                      <a:pt x="199996" y="171450"/>
                      <a:pt x="152652" y="171450"/>
                    </a:cubicBezTo>
                    <a:lnTo>
                      <a:pt x="124077" y="171450"/>
                    </a:lnTo>
                    <a:lnTo>
                      <a:pt x="127049" y="171450"/>
                    </a:lnTo>
                    <a:cubicBezTo>
                      <a:pt x="98210" y="171455"/>
                      <a:pt x="71301" y="156959"/>
                      <a:pt x="55440" y="132874"/>
                    </a:cubicBezTo>
                    <a:lnTo>
                      <a:pt x="52639" y="128588"/>
                    </a:lnTo>
                    <a:cubicBezTo>
                      <a:pt x="48182" y="121744"/>
                      <a:pt x="32537" y="94469"/>
                      <a:pt x="5691" y="46749"/>
                    </a:cubicBezTo>
                    <a:cubicBezTo>
                      <a:pt x="0" y="36634"/>
                      <a:pt x="3395" y="23827"/>
                      <a:pt x="13349" y="17859"/>
                    </a:cubicBezTo>
                    <a:cubicBezTo>
                      <a:pt x="23840" y="11565"/>
                      <a:pt x="37268" y="13214"/>
                      <a:pt x="45924" y="21860"/>
                    </a:cubicBezTo>
                    <a:lnTo>
                      <a:pt x="66927" y="42862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666750" y="2066925"/>
                <a:ext cx="14288" cy="14288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14288">
                    <a:moveTo>
                      <a:pt x="14288" y="14288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652462" y="2138362"/>
                <a:ext cx="142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9525">
                    <a:moveTo>
                      <a:pt x="14288" y="0"/>
                    </a:move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09625" y="2066925"/>
                <a:ext cx="14288" cy="14288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14288">
                    <a:moveTo>
                      <a:pt x="0" y="14288"/>
                    </a:moveTo>
                    <a:lnTo>
                      <a:pt x="14288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23912" y="2124075"/>
                <a:ext cx="1428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4288" h="9525">
                    <a:moveTo>
                      <a:pt x="0" y="0"/>
                    </a:moveTo>
                    <a:lnTo>
                      <a:pt x="14288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094232" y="2051050"/>
              <a:ext cx="2223383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Anna</a:t>
              </a:r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bids $1,300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96518" y="2425700"/>
              <a:ext cx="34565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Item #12 · PLACE BID → CONFIRM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781050" y="2857500"/>
              <a:ext cx="1" cy="16002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tailEnd type="triangle" w="lg" len="lg"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90422" y="3302000"/>
              <a:ext cx="267911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i="1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Who carried it?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96518" y="3797300"/>
              <a:ext cx="27154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refresh · no polling code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666750" y="4686300"/>
              <a:ext cx="228600" cy="228600"/>
              <a:chOff x="666750" y="4686300"/>
              <a:chExt cx="228600" cy="2286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666750" y="4743450"/>
                <a:ext cx="228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9525">
                    <a:moveTo>
                      <a:pt x="0" y="0"/>
                    </a:moveTo>
                    <a:lnTo>
                      <a:pt x="228600" y="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666750" y="46863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28575"/>
                    </a:moveTo>
                    <a:cubicBezTo>
                      <a:pt x="0" y="12793"/>
                      <a:pt x="12793" y="0"/>
                      <a:pt x="28575" y="0"/>
                    </a:cubicBezTo>
                    <a:lnTo>
                      <a:pt x="200025" y="0"/>
                    </a:lnTo>
                    <a:cubicBezTo>
                      <a:pt x="215807" y="0"/>
                      <a:pt x="228600" y="12793"/>
                      <a:pt x="228600" y="28575"/>
                    </a:cubicBezTo>
                    <a:lnTo>
                      <a:pt x="228600" y="200025"/>
                    </a:lnTo>
                    <a:cubicBezTo>
                      <a:pt x="228600" y="215807"/>
                      <a:pt x="215807" y="228600"/>
                      <a:pt x="200025" y="228600"/>
                    </a:cubicBezTo>
                    <a:lnTo>
                      <a:pt x="28575" y="228600"/>
                    </a:lnTo>
                    <a:cubicBezTo>
                      <a:pt x="12793" y="228600"/>
                      <a:pt x="0" y="215807"/>
                      <a:pt x="0" y="200025"/>
                    </a:cubicBezTo>
                    <a:lnTo>
                      <a:pt x="0" y="28575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23900" y="4686300"/>
                <a:ext cx="9525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7150">
                    <a:moveTo>
                      <a:pt x="0" y="0"/>
                    </a:moveTo>
                    <a:lnTo>
                      <a:pt x="0" y="57150"/>
                    </a:lnTo>
                  </a:path>
                </a:pathLst>
              </a:custGeom>
              <a:noFill/>
              <a:ln w="28575">
                <a:solidFill>
                  <a:schemeClr val="accent2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94232" y="4641850"/>
              <a:ext cx="204987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Ben</a:t>
              </a:r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sees $1,300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96518" y="5016500"/>
              <a:ext cx="35172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“You have been outbid” — instantly</a:t>
              </a:r>
            </a:p>
          </p:txBody>
        </p:sp>
      </p:grpSp>
      <p:sp>
        <p:nvSpPr>
          <p:cNvPr id="26" name="Line 26"/>
          <p:cNvSpPr/>
          <p:nvPr/>
        </p:nvSpPr>
        <p:spPr>
          <a:xfrm>
            <a:off x="5715000" y="1905000"/>
            <a:ext cx="9525" cy="4000500"/>
          </a:xfrm>
          <a:custGeom>
            <a:avLst/>
            <a:gdLst/>
            <a:ahLst/>
            <a:cxnLst/>
            <a:rect l="l" t="t" r="r" b="b"/>
            <a:pathLst>
              <a:path w="9525" h="4000500">
                <a:moveTo>
                  <a:pt x="0" y="0"/>
                </a:moveTo>
                <a:lnTo>
                  <a:pt x="0" y="400050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questions"/>
          <p:cNvGrpSpPr/>
          <p:nvPr/>
        </p:nvGrpSpPr>
        <p:grpSpPr>
          <a:xfrm>
            <a:off x="6076950" y="1847850"/>
            <a:ext cx="5505450" cy="4100957"/>
            <a:chOff x="6076950" y="1847850"/>
            <a:chExt cx="5505450" cy="4100957"/>
          </a:xfrm>
        </p:grpSpPr>
        <p:sp>
          <p:nvSpPr>
            <p:cNvPr id="27" name="TextBox 27"/>
            <p:cNvSpPr txBox="1"/>
            <p:nvPr/>
          </p:nvSpPr>
          <p:spPr>
            <a:xfrm>
              <a:off x="6088380" y="1847850"/>
              <a:ext cx="14237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Four questions</a:t>
              </a:r>
            </a:p>
          </p:txBody>
        </p:sp>
        <p:grpSp>
          <p:nvGrpSpPr>
            <p:cNvPr id="32" name="Group 32"/>
            <p:cNvGrpSpPr/>
            <p:nvPr/>
          </p:nvGrpSpPr>
          <p:grpSpPr>
            <a:xfrm>
              <a:off x="6076950" y="2305050"/>
              <a:ext cx="333444" cy="3248025"/>
              <a:chOff x="6076950" y="2305050"/>
              <a:chExt cx="333444" cy="3248025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6076950" y="23050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076950" y="31432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2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076950" y="39814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3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076950" y="4819650"/>
                <a:ext cx="333444" cy="7334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37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4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6656832" y="2432050"/>
              <a:ext cx="4061174" cy="2925318"/>
              <a:chOff x="6656832" y="2432050"/>
              <a:chExt cx="4061174" cy="2925318"/>
            </a:xfrm>
          </p:grpSpPr>
          <p:sp>
            <p:nvSpPr>
              <p:cNvPr id="33" name="TextBox 33"/>
              <p:cNvSpPr txBox="1"/>
              <p:nvPr/>
            </p:nvSpPr>
            <p:spPr>
              <a:xfrm>
                <a:off x="6656832" y="2432050"/>
                <a:ext cx="210843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What is SignalR?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656832" y="3270250"/>
                <a:ext cx="270695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What do we prepare?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656832" y="4108450"/>
                <a:ext cx="406117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How does Geronimo sync a bid?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656832" y="4946650"/>
                <a:ext cx="253286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What should we fix?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096000" y="2971800"/>
              <a:ext cx="5486400" cy="1685925"/>
              <a:chOff x="6096000" y="2971800"/>
              <a:chExt cx="5486400" cy="1685925"/>
            </a:xfrm>
          </p:grpSpPr>
          <p:sp>
            <p:nvSpPr>
              <p:cNvPr id="38" name="Line 38"/>
              <p:cNvSpPr/>
              <p:nvPr/>
            </p:nvSpPr>
            <p:spPr>
              <a:xfrm>
                <a:off x="6096000" y="2971800"/>
                <a:ext cx="5486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525">
                    <a:moveTo>
                      <a:pt x="0" y="0"/>
                    </a:moveTo>
                    <a:lnTo>
                      <a:pt x="5486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9" name="Line 39"/>
              <p:cNvSpPr/>
              <p:nvPr/>
            </p:nvSpPr>
            <p:spPr>
              <a:xfrm>
                <a:off x="6096000" y="3810000"/>
                <a:ext cx="5486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525">
                    <a:moveTo>
                      <a:pt x="0" y="0"/>
                    </a:moveTo>
                    <a:lnTo>
                      <a:pt x="5486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40" name="Line 40"/>
              <p:cNvSpPr/>
              <p:nvPr/>
            </p:nvSpPr>
            <p:spPr>
              <a:xfrm>
                <a:off x="6096000" y="4648200"/>
                <a:ext cx="5486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486400" h="9525">
                    <a:moveTo>
                      <a:pt x="0" y="0"/>
                    </a:moveTo>
                    <a:lnTo>
                      <a:pt x="5486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087618" y="5626100"/>
              <a:ext cx="330021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Then: the same bid, live in BidLab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44" name="TextBox 44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9490328" cy="1000125"/>
            <a:chOff x="590550" y="609600"/>
            <a:chExt cx="9490328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9490328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Everything raw WebSocket leaves to you</a:t>
              </a:r>
            </a:p>
          </p:txBody>
        </p:sp>
      </p:grpSp>
      <p:grpSp>
        <p:nvGrpSpPr>
          <p:cNvPr id="35" name="ledger"/>
          <p:cNvGrpSpPr/>
          <p:nvPr/>
        </p:nvGrpSpPr>
        <p:grpSpPr>
          <a:xfrm>
            <a:off x="598932" y="1924050"/>
            <a:ext cx="10983468" cy="3966718"/>
            <a:chOff x="598932" y="1924050"/>
            <a:chExt cx="10983468" cy="3966718"/>
          </a:xfrm>
        </p:grpSpPr>
        <p:sp>
          <p:nvSpPr>
            <p:cNvPr id="5" name="TextBox 5"/>
            <p:cNvSpPr txBox="1"/>
            <p:nvPr/>
          </p:nvSpPr>
          <p:spPr>
            <a:xfrm>
              <a:off x="601980" y="1924050"/>
              <a:ext cx="31674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With raw WebSocket you write…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469380" y="1924050"/>
              <a:ext cx="188465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 gives you…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609600" y="226695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4288">
              <a:solidFill>
                <a:schemeClr val="accent1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598932" y="2432050"/>
              <a:ext cx="4822414" cy="3458718"/>
              <a:chOff x="598932" y="2432050"/>
              <a:chExt cx="4822414" cy="3458718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598932" y="2432050"/>
                <a:ext cx="216970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 reconnect loop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98932" y="3041650"/>
                <a:ext cx="482241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 fallback when WebSocket is blocked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98932" y="3651250"/>
                <a:ext cx="3189347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Our own message format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98932" y="4260850"/>
                <a:ext cx="371956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Request ↔ response matching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598932" y="4870450"/>
                <a:ext cx="424055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 socket list and a broadcast loop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98932" y="5480050"/>
                <a:ext cx="269959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Sync between servers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5391150" y="2590800"/>
              <a:ext cx="819150" cy="3048001"/>
              <a:chOff x="5391150" y="2590800"/>
              <a:chExt cx="819150" cy="3048001"/>
            </a:xfrm>
          </p:grpSpPr>
          <p:sp>
            <p:nvSpPr>
              <p:cNvPr id="15" name="Line 15"/>
              <p:cNvSpPr/>
              <p:nvPr/>
            </p:nvSpPr>
            <p:spPr>
              <a:xfrm>
                <a:off x="5391150" y="25908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5391150" y="32004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7" name="Line 17"/>
              <p:cNvSpPr/>
              <p:nvPr/>
            </p:nvSpPr>
            <p:spPr>
              <a:xfrm>
                <a:off x="5391150" y="38100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8" name="Line 18"/>
              <p:cNvSpPr/>
              <p:nvPr/>
            </p:nvSpPr>
            <p:spPr>
              <a:xfrm>
                <a:off x="5391150" y="44196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19" name="Line 19"/>
              <p:cNvSpPr/>
              <p:nvPr/>
            </p:nvSpPr>
            <p:spPr>
              <a:xfrm>
                <a:off x="5391150" y="50292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20" name="Line 20"/>
              <p:cNvSpPr/>
              <p:nvPr/>
            </p:nvSpPr>
            <p:spPr>
              <a:xfrm>
                <a:off x="5391150" y="5638800"/>
                <a:ext cx="8191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>
              <a:off x="6466332" y="2432050"/>
              <a:ext cx="4453562" cy="3458718"/>
              <a:chOff x="6466332" y="2432050"/>
              <a:chExt cx="4453562" cy="3458718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6466332" y="2432050"/>
                <a:ext cx="3330796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withAutomaticReconnect()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466332" y="3041650"/>
                <a:ext cx="4106491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WebSockets › SSE › Long Polling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466332" y="3651250"/>
                <a:ext cx="445356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Hub Protocol: JSON · MessagePack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466332" y="4260850"/>
                <a:ext cx="2902677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invoke() + invocationId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66332" y="4870450"/>
                <a:ext cx="397651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Clients.All · Caller · User · Group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466332" y="5480050"/>
                <a:ext cx="4008925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Redis backplane · Azure SignalR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609600" y="2895600"/>
              <a:ext cx="10972800" cy="2447925"/>
              <a:chOff x="609600" y="2895600"/>
              <a:chExt cx="10972800" cy="2447925"/>
            </a:xfrm>
          </p:grpSpPr>
          <p:sp>
            <p:nvSpPr>
              <p:cNvPr id="29" name="Line 29"/>
              <p:cNvSpPr/>
              <p:nvPr/>
            </p:nvSpPr>
            <p:spPr>
              <a:xfrm>
                <a:off x="609600" y="28956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609600" y="35052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1" name="Line 31"/>
              <p:cNvSpPr/>
              <p:nvPr/>
            </p:nvSpPr>
            <p:spPr>
              <a:xfrm>
                <a:off x="609600" y="41148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609600" y="47244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3" name="Line 33"/>
              <p:cNvSpPr/>
              <p:nvPr/>
            </p:nvSpPr>
            <p:spPr>
              <a:xfrm>
                <a:off x="609600" y="53340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</p:grpSp>
      <p:grpSp>
        <p:nvGrpSpPr>
          <p:cNvPr id="38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6" name="TextBox 36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745754" cy="1000125"/>
            <a:chOff x="590550" y="609600"/>
            <a:chExt cx="6745754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745754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 framework, not a transport</a:t>
              </a:r>
            </a:p>
          </p:txBody>
        </p:sp>
      </p:grpSp>
      <p:grpSp>
        <p:nvGrpSpPr>
          <p:cNvPr id="8" name="layer-code"/>
          <p:cNvGrpSpPr/>
          <p:nvPr/>
        </p:nvGrpSpPr>
        <p:grpSpPr>
          <a:xfrm>
            <a:off x="609600" y="1905000"/>
            <a:ext cx="8915400" cy="914400"/>
            <a:chOff x="609600" y="1905000"/>
            <a:chExt cx="8915400" cy="914400"/>
          </a:xfrm>
        </p:grpSpPr>
        <p:sp>
          <p:nvSpPr>
            <p:cNvPr id="5" name="Rectangle 5"/>
            <p:cNvSpPr/>
            <p:nvPr/>
          </p:nvSpPr>
          <p:spPr>
            <a:xfrm>
              <a:off x="609600" y="1905000"/>
              <a:ext cx="89154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2000250"/>
              <a:ext cx="9808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Your code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89432" y="2336800"/>
              <a:ext cx="571364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Hub methods · client handlers · business rules</a:t>
              </a:r>
            </a:p>
          </p:txBody>
        </p:sp>
      </p:grpSp>
      <p:grpSp>
        <p:nvGrpSpPr>
          <p:cNvPr id="25" name="layer-signalr"/>
          <p:cNvGrpSpPr/>
          <p:nvPr/>
        </p:nvGrpSpPr>
        <p:grpSpPr>
          <a:xfrm>
            <a:off x="609600" y="3009900"/>
            <a:ext cx="8915400" cy="1676400"/>
            <a:chOff x="609600" y="3009900"/>
            <a:chExt cx="8915400" cy="1676400"/>
          </a:xfrm>
        </p:grpSpPr>
        <p:sp>
          <p:nvSpPr>
            <p:cNvPr id="9" name="Rectangle 9"/>
            <p:cNvSpPr/>
            <p:nvPr/>
          </p:nvSpPr>
          <p:spPr>
            <a:xfrm>
              <a:off x="609600" y="3009900"/>
              <a:ext cx="8915400" cy="1676400"/>
            </a:xfrm>
            <a:prstGeom prst="roundRect">
              <a:avLst>
                <a:gd name="adj" fmla="val 2273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92480" y="308610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800100" y="3409950"/>
              <a:ext cx="8610600" cy="1123950"/>
              <a:chOff x="800100" y="3409950"/>
              <a:chExt cx="8610600" cy="112395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800100" y="340995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3619500" y="340995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6515100" y="3409950"/>
                <a:ext cx="28956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4" name="Rectangle 14"/>
              <p:cNvSpPr/>
              <p:nvPr/>
            </p:nvSpPr>
            <p:spPr>
              <a:xfrm>
                <a:off x="800100" y="403860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5" name="Rectangle 15"/>
              <p:cNvSpPr/>
              <p:nvPr/>
            </p:nvSpPr>
            <p:spPr>
              <a:xfrm>
                <a:off x="3619500" y="4038600"/>
                <a:ext cx="27051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16" name="Rectangle 16"/>
              <p:cNvSpPr/>
              <p:nvPr/>
            </p:nvSpPr>
            <p:spPr>
              <a:xfrm>
                <a:off x="6515100" y="4038600"/>
                <a:ext cx="28956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>
              <a:off x="1343263" y="3521075"/>
              <a:ext cx="7914813" cy="951357"/>
              <a:chOff x="1343263" y="3521075"/>
              <a:chExt cx="7914813" cy="951357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1343263" y="3521075"/>
                <a:ext cx="161877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HubConnection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4226890" y="3521075"/>
                <a:ext cx="149032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 dispatch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6844636" y="3521075"/>
                <a:ext cx="22365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HubLifetimeManager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03718" y="4149725"/>
                <a:ext cx="14978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Hub Protocol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4410456" y="4149725"/>
                <a:ext cx="112318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Negotiate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667724" y="4149725"/>
                <a:ext cx="259035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Keep-alive, reconnect</a:t>
                </a:r>
              </a:p>
            </p:txBody>
          </p:sp>
        </p:grpSp>
      </p:grpSp>
      <p:grpSp>
        <p:nvGrpSpPr>
          <p:cNvPr id="29" name="layer-transport"/>
          <p:cNvGrpSpPr/>
          <p:nvPr/>
        </p:nvGrpSpPr>
        <p:grpSpPr>
          <a:xfrm>
            <a:off x="609600" y="4876800"/>
            <a:ext cx="8915400" cy="914400"/>
            <a:chOff x="609600" y="4876800"/>
            <a:chExt cx="8915400" cy="914400"/>
          </a:xfrm>
        </p:grpSpPr>
        <p:sp>
          <p:nvSpPr>
            <p:cNvPr id="26" name="Rectangle 26"/>
            <p:cNvSpPr/>
            <p:nvPr/>
          </p:nvSpPr>
          <p:spPr>
            <a:xfrm>
              <a:off x="609600" y="4876800"/>
              <a:ext cx="8915400" cy="9144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92480" y="4972050"/>
              <a:ext cx="24875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Transport · picked for you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9432" y="5308600"/>
              <a:ext cx="59841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WebSockets › Server-Sent Events › Long Polling</a:t>
              </a:r>
            </a:p>
          </p:txBody>
        </p:sp>
      </p:grpSp>
      <p:grpSp>
        <p:nvGrpSpPr>
          <p:cNvPr id="34" name="margin-note"/>
          <p:cNvGrpSpPr/>
          <p:nvPr/>
        </p:nvGrpSpPr>
        <p:grpSpPr>
          <a:xfrm>
            <a:off x="9906000" y="1905000"/>
            <a:ext cx="1518481" cy="2933700"/>
            <a:chOff x="9906000" y="1905000"/>
            <a:chExt cx="1518481" cy="2933700"/>
          </a:xfrm>
        </p:grpSpPr>
        <p:sp>
          <p:nvSpPr>
            <p:cNvPr id="30" name="Line 30"/>
            <p:cNvSpPr/>
            <p:nvPr/>
          </p:nvSpPr>
          <p:spPr>
            <a:xfrm>
              <a:off x="9906000" y="190500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088880" y="1962150"/>
              <a:ext cx="13143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Where it lives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088118" y="2317750"/>
              <a:ext cx="1336363" cy="11799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Built into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ASP.NET Core: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AddSignalR()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+ MapHub()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088118" y="3708400"/>
              <a:ext cx="976524" cy="8942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Clients: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JavaScript,</a:t>
              </a:r>
              <a:b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.NET, Java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5" name="TextBox 35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421063" cy="1000125"/>
            <a:chOff x="590550" y="609600"/>
            <a:chExt cx="6421063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421063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Six jobs you no longer write</a:t>
              </a:r>
            </a:p>
          </p:txBody>
        </p:sp>
      </p:grpSp>
      <p:grpSp>
        <p:nvGrpSpPr>
          <p:cNvPr id="12" name="job-negotiate"/>
          <p:cNvGrpSpPr/>
          <p:nvPr/>
        </p:nvGrpSpPr>
        <p:grpSpPr>
          <a:xfrm>
            <a:off x="595122" y="1905000"/>
            <a:ext cx="3443478" cy="1840357"/>
            <a:chOff x="595122" y="1905000"/>
            <a:chExt cx="3443478" cy="1840357"/>
          </a:xfrm>
        </p:grpSpPr>
        <p:sp>
          <p:nvSpPr>
            <p:cNvPr id="5" name="Line 5"/>
            <p:cNvSpPr/>
            <p:nvPr/>
          </p:nvSpPr>
          <p:spPr>
            <a:xfrm>
              <a:off x="609600" y="19050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9" name="Group 9"/>
            <p:cNvGrpSpPr/>
            <p:nvPr/>
          </p:nvGrpSpPr>
          <p:grpSpPr>
            <a:xfrm>
              <a:off x="657225" y="2162175"/>
              <a:ext cx="285751" cy="285751"/>
              <a:chOff x="657225" y="2162175"/>
              <a:chExt cx="285751" cy="28575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657225" y="2384426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79476" y="2162175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31750" y="63500"/>
                    </a:move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  <a:cubicBezTo>
                      <a:pt x="0" y="49285"/>
                      <a:pt x="14215" y="63500"/>
                      <a:pt x="31750" y="6350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688975" y="2193925"/>
                <a:ext cx="238125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22250">
                    <a:moveTo>
                      <a:pt x="95250" y="222250"/>
                    </a:moveTo>
                    <a:lnTo>
                      <a:pt x="182563" y="222250"/>
                    </a:lnTo>
                    <a:cubicBezTo>
                      <a:pt x="213249" y="222250"/>
                      <a:pt x="238125" y="197374"/>
                      <a:pt x="238125" y="166688"/>
                    </a:cubicBezTo>
                    <a:cubicBezTo>
                      <a:pt x="238125" y="136001"/>
                      <a:pt x="213249" y="111125"/>
                      <a:pt x="182563" y="111125"/>
                    </a:cubicBezTo>
                    <a:lnTo>
                      <a:pt x="55563" y="111125"/>
                    </a:lnTo>
                    <a:cubicBezTo>
                      <a:pt x="24876" y="111125"/>
                      <a:pt x="0" y="86249"/>
                      <a:pt x="0" y="55563"/>
                    </a:cubicBezTo>
                    <a:cubicBezTo>
                      <a:pt x="0" y="24876"/>
                      <a:pt x="24876" y="0"/>
                      <a:pt x="55563" y="0"/>
                    </a:cubicBez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595122" y="2654300"/>
              <a:ext cx="174060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Negotiate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1218" y="3136900"/>
              <a:ext cx="2186696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Picks the best transport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both sides support</a:t>
              </a:r>
            </a:p>
          </p:txBody>
        </p:sp>
      </p:grpSp>
      <p:grpSp>
        <p:nvGrpSpPr>
          <p:cNvPr id="19" name="job-alive"/>
          <p:cNvGrpSpPr/>
          <p:nvPr/>
        </p:nvGrpSpPr>
        <p:grpSpPr>
          <a:xfrm>
            <a:off x="4252722" y="1905000"/>
            <a:ext cx="3443478" cy="1840357"/>
            <a:chOff x="4252722" y="1905000"/>
            <a:chExt cx="3443478" cy="1840357"/>
          </a:xfrm>
        </p:grpSpPr>
        <p:sp>
          <p:nvSpPr>
            <p:cNvPr id="13" name="Line 13"/>
            <p:cNvSpPr/>
            <p:nvPr/>
          </p:nvSpPr>
          <p:spPr>
            <a:xfrm>
              <a:off x="4267200" y="19050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4314825" y="2162175"/>
              <a:ext cx="285751" cy="285751"/>
              <a:chOff x="4314825" y="2162175"/>
              <a:chExt cx="285751" cy="28575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4314825" y="216217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4457700" y="2225675"/>
                <a:ext cx="47625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27000">
                    <a:moveTo>
                      <a:pt x="0" y="0"/>
                    </a:moveTo>
                    <a:lnTo>
                      <a:pt x="0" y="79375"/>
                    </a:lnTo>
                    <a:lnTo>
                      <a:pt x="47625" y="12700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4252722" y="2654300"/>
              <a:ext cx="172072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Stay alive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58818" y="3136900"/>
              <a:ext cx="2435872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Ping every 15 s; drop after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30 s of silence</a:t>
              </a:r>
            </a:p>
          </p:txBody>
        </p:sp>
      </p:grpSp>
      <p:grpSp>
        <p:nvGrpSpPr>
          <p:cNvPr id="26" name="job-reconnect"/>
          <p:cNvGrpSpPr/>
          <p:nvPr/>
        </p:nvGrpSpPr>
        <p:grpSpPr>
          <a:xfrm>
            <a:off x="7910322" y="1905000"/>
            <a:ext cx="3672078" cy="1840357"/>
            <a:chOff x="7910322" y="1905000"/>
            <a:chExt cx="3672078" cy="1840357"/>
          </a:xfrm>
        </p:grpSpPr>
        <p:sp>
          <p:nvSpPr>
            <p:cNvPr id="20" name="Line 20"/>
            <p:cNvSpPr/>
            <p:nvPr/>
          </p:nvSpPr>
          <p:spPr>
            <a:xfrm>
              <a:off x="7924800" y="19050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988300" y="2171925"/>
              <a:ext cx="254001" cy="266250"/>
              <a:chOff x="7988300" y="2171925"/>
              <a:chExt cx="254001" cy="2662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988300" y="2171925"/>
                <a:ext cx="254001" cy="11725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117250">
                    <a:moveTo>
                      <a:pt x="254001" y="117250"/>
                    </a:moveTo>
                    <a:cubicBezTo>
                      <a:pt x="246020" y="59823"/>
                      <a:pt x="200595" y="14839"/>
                      <a:pt x="143092" y="7420"/>
                    </a:cubicBezTo>
                    <a:cubicBezTo>
                      <a:pt x="85590" y="0"/>
                      <a:pt x="30234" y="31980"/>
                      <a:pt x="7938" y="85500"/>
                    </a:cubicBezTo>
                    <a:moveTo>
                      <a:pt x="0" y="22000"/>
                    </a:moveTo>
                    <a:lnTo>
                      <a:pt x="0" y="85500"/>
                    </a:lnTo>
                    <a:lnTo>
                      <a:pt x="63500" y="8550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7988300" y="2320925"/>
                <a:ext cx="254001" cy="11725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117250">
                    <a:moveTo>
                      <a:pt x="0" y="0"/>
                    </a:moveTo>
                    <a:cubicBezTo>
                      <a:pt x="7981" y="57427"/>
                      <a:pt x="53406" y="102411"/>
                      <a:pt x="110908" y="109831"/>
                    </a:cubicBezTo>
                    <a:cubicBezTo>
                      <a:pt x="168411" y="117250"/>
                      <a:pt x="223766" y="85271"/>
                      <a:pt x="246063" y="31750"/>
                    </a:cubicBezTo>
                    <a:moveTo>
                      <a:pt x="254001" y="95250"/>
                    </a:moveTo>
                    <a:lnTo>
                      <a:pt x="254001" y="31750"/>
                    </a:lnTo>
                    <a:lnTo>
                      <a:pt x="190500" y="317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7910322" y="2654300"/>
              <a:ext cx="1881635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Reconnect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916418" y="3136900"/>
              <a:ext cx="2363326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Retries after 0, 2, 10, 30 s,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then gives up</a:t>
              </a:r>
            </a:p>
          </p:txBody>
        </p:sp>
      </p:grpSp>
      <p:grpSp>
        <p:nvGrpSpPr>
          <p:cNvPr id="37" name="job-rpc"/>
          <p:cNvGrpSpPr/>
          <p:nvPr/>
        </p:nvGrpSpPr>
        <p:grpSpPr>
          <a:xfrm>
            <a:off x="595122" y="4076700"/>
            <a:ext cx="3443478" cy="1840357"/>
            <a:chOff x="595122" y="4076700"/>
            <a:chExt cx="3443478" cy="1840357"/>
          </a:xfrm>
        </p:grpSpPr>
        <p:sp>
          <p:nvSpPr>
            <p:cNvPr id="27" name="Line 27"/>
            <p:cNvSpPr/>
            <p:nvPr/>
          </p:nvSpPr>
          <p:spPr>
            <a:xfrm>
              <a:off x="609600" y="40767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657225" y="4333875"/>
              <a:ext cx="285751" cy="285751"/>
              <a:chOff x="657225" y="4333875"/>
              <a:chExt cx="285751" cy="285751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676516" y="4476750"/>
                <a:ext cx="123585" cy="123585"/>
              </a:xfrm>
              <a:custGeom>
                <a:avLst/>
                <a:gdLst/>
                <a:ahLst/>
                <a:cxnLst/>
                <a:rect l="l" t="t" r="r" b="b"/>
                <a:pathLst>
                  <a:path w="123585" h="123585">
                    <a:moveTo>
                      <a:pt x="44209" y="0"/>
                    </a:moveTo>
                    <a:lnTo>
                      <a:pt x="123585" y="79375"/>
                    </a:lnTo>
                    <a:lnTo>
                      <a:pt x="99772" y="103188"/>
                    </a:lnTo>
                    <a:cubicBezTo>
                      <a:pt x="85672" y="117753"/>
                      <a:pt x="64814" y="123585"/>
                      <a:pt x="45205" y="118444"/>
                    </a:cubicBezTo>
                    <a:cubicBezTo>
                      <a:pt x="25596" y="113303"/>
                      <a:pt x="10281" y="97989"/>
                      <a:pt x="5141" y="78379"/>
                    </a:cubicBezTo>
                    <a:cubicBezTo>
                      <a:pt x="0" y="58770"/>
                      <a:pt x="5831" y="37912"/>
                      <a:pt x="20397" y="23813"/>
                    </a:cubicBezTo>
                    <a:lnTo>
                      <a:pt x="44209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00100" y="4353166"/>
                <a:ext cx="123585" cy="123585"/>
              </a:xfrm>
              <a:custGeom>
                <a:avLst/>
                <a:gdLst/>
                <a:ahLst/>
                <a:cxnLst/>
                <a:rect l="l" t="t" r="r" b="b"/>
                <a:pathLst>
                  <a:path w="123585" h="123585">
                    <a:moveTo>
                      <a:pt x="79375" y="123585"/>
                    </a:moveTo>
                    <a:lnTo>
                      <a:pt x="0" y="44209"/>
                    </a:lnTo>
                    <a:lnTo>
                      <a:pt x="23813" y="20397"/>
                    </a:lnTo>
                    <a:cubicBezTo>
                      <a:pt x="37912" y="5831"/>
                      <a:pt x="58770" y="0"/>
                      <a:pt x="78379" y="5141"/>
                    </a:cubicBezTo>
                    <a:cubicBezTo>
                      <a:pt x="97989" y="10281"/>
                      <a:pt x="113303" y="25596"/>
                      <a:pt x="118444" y="45205"/>
                    </a:cubicBezTo>
                    <a:cubicBezTo>
                      <a:pt x="123585" y="64814"/>
                      <a:pt x="117753" y="85672"/>
                      <a:pt x="103188" y="99772"/>
                    </a:cubicBezTo>
                    <a:lnTo>
                      <a:pt x="79375" y="123585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57225" y="4579938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39688"/>
                    </a:moveTo>
                    <a:lnTo>
                      <a:pt x="39688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903288" y="4333875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39688"/>
                    </a:moveTo>
                    <a:lnTo>
                      <a:pt x="39688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36600" y="4460875"/>
                <a:ext cx="317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31750">
                    <a:moveTo>
                      <a:pt x="3175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84225" y="4508500"/>
                <a:ext cx="31750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31750">
                    <a:moveTo>
                      <a:pt x="3175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595122" y="4826000"/>
              <a:ext cx="2756416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RPC both ways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01218" y="5308600"/>
              <a:ext cx="2203586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invoke()</a:t>
              </a: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to the server,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on()</a:t>
              </a: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from the server</a:t>
              </a:r>
            </a:p>
          </p:txBody>
        </p:sp>
      </p:grpSp>
      <p:grpSp>
        <p:nvGrpSpPr>
          <p:cNvPr id="46" name="job-targeting"/>
          <p:cNvGrpSpPr/>
          <p:nvPr/>
        </p:nvGrpSpPr>
        <p:grpSpPr>
          <a:xfrm>
            <a:off x="4252722" y="4076700"/>
            <a:ext cx="3443478" cy="1840357"/>
            <a:chOff x="4252722" y="4076700"/>
            <a:chExt cx="3443478" cy="1840357"/>
          </a:xfrm>
        </p:grpSpPr>
        <p:sp>
          <p:nvSpPr>
            <p:cNvPr id="38" name="Line 38"/>
            <p:cNvSpPr/>
            <p:nvPr/>
          </p:nvSpPr>
          <p:spPr>
            <a:xfrm>
              <a:off x="4267200" y="4076700"/>
              <a:ext cx="3429000" cy="9525"/>
            </a:xfrm>
            <a:custGeom>
              <a:avLst/>
              <a:gdLst/>
              <a:ahLst/>
              <a:cxnLst/>
              <a:rect l="l" t="t" r="r" b="b"/>
              <a:pathLst>
                <a:path w="3429000" h="9525">
                  <a:moveTo>
                    <a:pt x="0" y="0"/>
                  </a:moveTo>
                  <a:lnTo>
                    <a:pt x="34290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4314825" y="4333875"/>
              <a:ext cx="285751" cy="285751"/>
              <a:chOff x="4314825" y="4333875"/>
              <a:chExt cx="285751" cy="285751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4346575" y="4333875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4314825" y="4524375"/>
                <a:ext cx="19050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0">
                    <a:moveTo>
                      <a:pt x="0" y="95250"/>
                    </a:move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27000" y="0"/>
                    </a:lnTo>
                    <a:cubicBezTo>
                      <a:pt x="162070" y="0"/>
                      <a:pt x="190500" y="28430"/>
                      <a:pt x="190500" y="63500"/>
                    </a:cubicBezTo>
                    <a:lnTo>
                      <a:pt x="190500" y="9525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4521201" y="4335939"/>
                <a:ext cx="47750" cy="123031"/>
              </a:xfrm>
              <a:custGeom>
                <a:avLst/>
                <a:gdLst/>
                <a:ahLst/>
                <a:cxnLst/>
                <a:rect l="l" t="t" r="r" b="b"/>
                <a:pathLst>
                  <a:path w="47750" h="123031">
                    <a:moveTo>
                      <a:pt x="0" y="0"/>
                    </a:moveTo>
                    <a:cubicBezTo>
                      <a:pt x="28097" y="7194"/>
                      <a:pt x="47750" y="32512"/>
                      <a:pt x="47750" y="61516"/>
                    </a:cubicBezTo>
                    <a:cubicBezTo>
                      <a:pt x="47750" y="90520"/>
                      <a:pt x="28097" y="115837"/>
                      <a:pt x="0" y="123031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4552951" y="4526757"/>
                <a:ext cx="47625" cy="92869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2869">
                    <a:moveTo>
                      <a:pt x="47625" y="92869"/>
                    </a:moveTo>
                    <a:lnTo>
                      <a:pt x="47625" y="61119"/>
                    </a:lnTo>
                    <a:cubicBezTo>
                      <a:pt x="47459" y="32299"/>
                      <a:pt x="27905" y="7205"/>
                      <a:pt x="0" y="0"/>
                    </a:cubicBez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4252722" y="4826000"/>
              <a:ext cx="1749280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Targeting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258818" y="5308600"/>
              <a:ext cx="1713134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All · Caller · Others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User · Group</a:t>
              </a:r>
            </a:p>
          </p:txBody>
        </p:sp>
      </p:grpSp>
      <p:grpSp>
        <p:nvGrpSpPr>
          <p:cNvPr id="54" name="job-scale"/>
          <p:cNvGrpSpPr/>
          <p:nvPr/>
        </p:nvGrpSpPr>
        <p:grpSpPr>
          <a:xfrm>
            <a:off x="7910322" y="4076700"/>
            <a:ext cx="3672078" cy="1840357"/>
            <a:chOff x="7910322" y="4076700"/>
            <a:chExt cx="3672078" cy="1840357"/>
          </a:xfrm>
        </p:grpSpPr>
        <p:sp>
          <p:nvSpPr>
            <p:cNvPr id="47" name="Line 47"/>
            <p:cNvSpPr/>
            <p:nvPr/>
          </p:nvSpPr>
          <p:spPr>
            <a:xfrm>
              <a:off x="7924800" y="40767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988300" y="4349750"/>
              <a:ext cx="254001" cy="254001"/>
              <a:chOff x="7988300" y="4349750"/>
              <a:chExt cx="254001" cy="254001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988300" y="4349750"/>
                <a:ext cx="254001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127000">
                    <a:moveTo>
                      <a:pt x="127000" y="0"/>
                    </a:moveTo>
                    <a:lnTo>
                      <a:pt x="0" y="63500"/>
                    </a:lnTo>
                    <a:lnTo>
                      <a:pt x="127000" y="127000"/>
                    </a:lnTo>
                    <a:lnTo>
                      <a:pt x="254001" y="63500"/>
                    </a:lnTo>
                    <a:lnTo>
                      <a:pt x="127000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988300" y="4476750"/>
                <a:ext cx="254001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63500">
                    <a:moveTo>
                      <a:pt x="0" y="0"/>
                    </a:moveTo>
                    <a:lnTo>
                      <a:pt x="127000" y="63500"/>
                    </a:lnTo>
                    <a:lnTo>
                      <a:pt x="254001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7988300" y="4540251"/>
                <a:ext cx="254001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63500">
                    <a:moveTo>
                      <a:pt x="0" y="0"/>
                    </a:moveTo>
                    <a:lnTo>
                      <a:pt x="127000" y="63500"/>
                    </a:lnTo>
                    <a:lnTo>
                      <a:pt x="254001" y="0"/>
                    </a:lnTo>
                  </a:path>
                </a:pathLst>
              </a:custGeom>
              <a:noFill/>
              <a:ln w="31750">
                <a:solidFill>
                  <a:schemeClr val="accent3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7910322" y="4826000"/>
              <a:ext cx="1668161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Scale-out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16418" y="5308600"/>
              <a:ext cx="2000553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Redis backplane or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Azure SignalR Service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5" name="TextBox 55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8930515" cy="1000125"/>
            <a:chOff x="590550" y="609600"/>
            <a:chExt cx="8930515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18952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 · What is SignalR?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893051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Reach for it when both sides talk, often</a:t>
              </a:r>
            </a:p>
          </p:txBody>
        </p:sp>
      </p:grpSp>
      <p:grpSp>
        <p:nvGrpSpPr>
          <p:cNvPr id="59" name="when-to-use"/>
          <p:cNvGrpSpPr/>
          <p:nvPr/>
        </p:nvGrpSpPr>
        <p:grpSpPr>
          <a:xfrm>
            <a:off x="609600" y="1866900"/>
            <a:ext cx="10972800" cy="4200525"/>
            <a:chOff x="609600" y="1866900"/>
            <a:chExt cx="10972800" cy="4200525"/>
          </a:xfrm>
        </p:grpSpPr>
        <p:sp>
          <p:nvSpPr>
            <p:cNvPr id="5" name="Rectangle 5"/>
            <p:cNvSpPr/>
            <p:nvPr/>
          </p:nvSpPr>
          <p:spPr>
            <a:xfrm>
              <a:off x="8001000" y="1866900"/>
              <a:ext cx="1790700" cy="4191000"/>
            </a:xfrm>
            <a:prstGeom prst="rect">
              <a:avLst/>
            </a:prstGeom>
            <a:solidFill>
              <a:srgbClr val="F1EBFD"/>
            </a:solidFill>
            <a:ln>
              <a:noFill/>
            </a:ln>
          </p:spPr>
        </p:sp>
        <p:grpSp>
          <p:nvGrpSpPr>
            <p:cNvPr id="11" name="Group 11"/>
            <p:cNvGrpSpPr/>
            <p:nvPr/>
          </p:nvGrpSpPr>
          <p:grpSpPr>
            <a:xfrm>
              <a:off x="2772918" y="1997075"/>
              <a:ext cx="8654134" cy="322707"/>
              <a:chOff x="2772918" y="1997075"/>
              <a:chExt cx="8654134" cy="322707"/>
            </a:xfrm>
          </p:grpSpPr>
          <p:sp>
            <p:nvSpPr>
              <p:cNvPr id="6" name="TextBox 6"/>
              <p:cNvSpPr txBox="1"/>
              <p:nvPr/>
            </p:nvSpPr>
            <p:spPr>
              <a:xfrm>
                <a:off x="2772918" y="1997075"/>
                <a:ext cx="75621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Polling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4563618" y="1997075"/>
                <a:ext cx="4047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SSE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6354318" y="1997075"/>
                <a:ext cx="172232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Raw WebSocket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8145018" y="1997075"/>
                <a:ext cx="81667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SignalR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935718" y="1997075"/>
                <a:ext cx="149133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Azure SignalR</a:t>
                </a:r>
              </a:p>
            </p:txBody>
          </p:sp>
        </p:grpSp>
        <p:sp>
          <p:nvSpPr>
            <p:cNvPr id="12" name="Line 12"/>
            <p:cNvSpPr/>
            <p:nvPr/>
          </p:nvSpPr>
          <p:spPr>
            <a:xfrm>
              <a:off x="609600" y="24003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14288">
              <a:solidFill>
                <a:schemeClr val="accent1"/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753618" y="2568575"/>
              <a:ext cx="1884190" cy="3370707"/>
              <a:chOff x="753618" y="2568575"/>
              <a:chExt cx="1884190" cy="3370707"/>
            </a:xfrm>
          </p:grpSpPr>
          <p:sp>
            <p:nvSpPr>
              <p:cNvPr id="13" name="TextBox 13"/>
              <p:cNvSpPr txBox="1"/>
              <p:nvPr/>
            </p:nvSpPr>
            <p:spPr>
              <a:xfrm>
                <a:off x="753618" y="2568575"/>
                <a:ext cx="97473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Two-way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53618" y="3178175"/>
                <a:ext cx="87212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Fallback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53618" y="3787775"/>
                <a:ext cx="163082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Auto reconnect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53618" y="4397375"/>
                <a:ext cx="188419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Fan-out &amp; groups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53618" y="5006975"/>
                <a:ext cx="130809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Multi-server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53618" y="5616575"/>
                <a:ext cx="76550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Best fit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772918" y="2568575"/>
              <a:ext cx="8755956" cy="3370707"/>
              <a:chOff x="2772918" y="2568575"/>
              <a:chExt cx="8755956" cy="3370707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2772918" y="2568575"/>
                <a:ext cx="129248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Request only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4563618" y="2568575"/>
                <a:ext cx="140566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Server → client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354318" y="2568575"/>
                <a:ext cx="35623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Yes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9935718" y="2568575"/>
                <a:ext cx="88530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Yes, RPC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2772918" y="3178175"/>
                <a:ext cx="164619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Works anywhere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563618" y="3178175"/>
                <a:ext cx="10376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HTTP only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354318" y="31781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9935718" y="31781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2772918" y="3787775"/>
                <a:ext cx="91176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Next poll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63618" y="37877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354318" y="37877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935718" y="37877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2772918" y="43973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4563618" y="43973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354318" y="4397375"/>
                <a:ext cx="74246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Write it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935718" y="4397375"/>
                <a:ext cx="151798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All/User/Group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2772918" y="5006975"/>
                <a:ext cx="125794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Shared store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563618" y="5006975"/>
                <a:ext cx="136499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Your pub/sub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6354318" y="5006975"/>
                <a:ext cx="136499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Your pub/sub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9935718" y="5006975"/>
                <a:ext cx="95326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Managed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2772918" y="5616575"/>
                <a:ext cx="130929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Rare updates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63618" y="5616575"/>
                <a:ext cx="99153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Live feeds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354318" y="5616575"/>
                <a:ext cx="166836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Custom protocol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935718" y="5616575"/>
                <a:ext cx="159315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Same, managed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8145018" y="2568575"/>
              <a:ext cx="1749167" cy="3370707"/>
              <a:chOff x="8145018" y="2568575"/>
              <a:chExt cx="1749167" cy="3370707"/>
            </a:xfrm>
          </p:grpSpPr>
          <p:sp>
            <p:nvSpPr>
              <p:cNvPr id="45" name="TextBox 45"/>
              <p:cNvSpPr txBox="1"/>
              <p:nvPr/>
            </p:nvSpPr>
            <p:spPr>
              <a:xfrm>
                <a:off x="8145018" y="2568575"/>
                <a:ext cx="88530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Yes, RPC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145018" y="31781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145018" y="3787775"/>
                <a:ext cx="69848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Built in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145018" y="4397375"/>
                <a:ext cx="151798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All/User/Group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8145018" y="5006975"/>
                <a:ext cx="1607774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Redis backplane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145018" y="5616575"/>
                <a:ext cx="174916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Two-way on .NET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09600" y="3009900"/>
              <a:ext cx="10972800" cy="3057525"/>
              <a:chOff x="609600" y="3009900"/>
              <a:chExt cx="10972800" cy="3057525"/>
            </a:xfrm>
          </p:grpSpPr>
          <p:sp>
            <p:nvSpPr>
              <p:cNvPr id="52" name="Line 52"/>
              <p:cNvSpPr/>
              <p:nvPr/>
            </p:nvSpPr>
            <p:spPr>
              <a:xfrm>
                <a:off x="609600" y="30099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3" name="Line 53"/>
              <p:cNvSpPr/>
              <p:nvPr/>
            </p:nvSpPr>
            <p:spPr>
              <a:xfrm>
                <a:off x="609600" y="36195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4" name="Line 54"/>
              <p:cNvSpPr/>
              <p:nvPr/>
            </p:nvSpPr>
            <p:spPr>
              <a:xfrm>
                <a:off x="609600" y="42291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5" name="Line 55"/>
              <p:cNvSpPr/>
              <p:nvPr/>
            </p:nvSpPr>
            <p:spPr>
              <a:xfrm>
                <a:off x="609600" y="48387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6" name="Line 56"/>
              <p:cNvSpPr/>
              <p:nvPr/>
            </p:nvSpPr>
            <p:spPr>
              <a:xfrm>
                <a:off x="609600" y="54483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57" name="Line 57"/>
              <p:cNvSpPr/>
              <p:nvPr/>
            </p:nvSpPr>
            <p:spPr>
              <a:xfrm>
                <a:off x="609600" y="6057900"/>
                <a:ext cx="109728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72800" h="9525">
                    <a:moveTo>
                      <a:pt x="0" y="0"/>
                    </a:moveTo>
                    <a:lnTo>
                      <a:pt x="109728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</p:grpSp>
      <p:grpSp>
        <p:nvGrpSpPr>
          <p:cNvPr id="62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60" name="TextBox 60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651475" cy="1000125"/>
            <a:chOff x="590550" y="609600"/>
            <a:chExt cx="7651475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233059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 · What do we prepare?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651475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Before the first hub: six decisions</a:t>
              </a:r>
            </a:p>
          </p:txBody>
        </p:sp>
      </p:grpSp>
      <p:grpSp>
        <p:nvGrpSpPr>
          <p:cNvPr id="32" name="steps"/>
          <p:cNvGrpSpPr/>
          <p:nvPr/>
        </p:nvGrpSpPr>
        <p:grpSpPr>
          <a:xfrm>
            <a:off x="595122" y="1968500"/>
            <a:ext cx="8548878" cy="3986403"/>
            <a:chOff x="595122" y="1968500"/>
            <a:chExt cx="8548878" cy="3986403"/>
          </a:xfrm>
        </p:grpSpPr>
        <p:grpSp>
          <p:nvGrpSpPr>
            <p:cNvPr id="11" name="Group 11"/>
            <p:cNvGrpSpPr/>
            <p:nvPr/>
          </p:nvGrpSpPr>
          <p:grpSpPr>
            <a:xfrm>
              <a:off x="595122" y="1968500"/>
              <a:ext cx="253417" cy="3986403"/>
              <a:chOff x="595122" y="1968500"/>
              <a:chExt cx="253417" cy="3986403"/>
            </a:xfrm>
          </p:grpSpPr>
          <p:sp>
            <p:nvSpPr>
              <p:cNvPr id="5" name="TextBox 5"/>
              <p:cNvSpPr txBox="1"/>
              <p:nvPr/>
            </p:nvSpPr>
            <p:spPr>
              <a:xfrm>
                <a:off x="595122" y="19685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1</a:t>
                </a:r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595122" y="26543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2</a:t>
                </a:r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595122" y="33401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3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595122" y="40259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4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95122" y="47117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5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95122" y="5397500"/>
                <a:ext cx="2534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850" dirty="0">
                    <a:solidFill>
                      <a:schemeClr val="accent2"/>
                    </a:solidFill>
                    <a:latin typeface="+mj-lt"/>
                    <a:ea typeface="+mj-ea"/>
                    <a:cs typeface="+mj-cs"/>
                  </a:rPr>
                  <a:t>6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056132" y="2051050"/>
              <a:ext cx="1862525" cy="3839718"/>
              <a:chOff x="1056132" y="2051050"/>
              <a:chExt cx="1862525" cy="3839718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1056132" y="2051050"/>
                <a:ext cx="87187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Server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56132" y="2736850"/>
                <a:ext cx="155053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Hub design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056132" y="3422650"/>
                <a:ext cx="79970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Client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056132" y="4108450"/>
                <a:ext cx="106980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Identity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056132" y="4794250"/>
                <a:ext cx="1862525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Infrastructure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056132" y="5480050"/>
                <a:ext cx="82741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Limits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3230118" y="2092325"/>
              <a:ext cx="5624799" cy="3751707"/>
              <a:chOff x="3230118" y="2092325"/>
              <a:chExt cx="5624799" cy="3751707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3230118" y="2092325"/>
                <a:ext cx="427987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AddSignalR() + MapHub&lt;T&gt;()</a:t>
                </a:r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 xml:space="preserve"> — built in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30118" y="2778125"/>
                <a:ext cx="508298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Methods are public API; event names are a contract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230118" y="3463925"/>
                <a:ext cx="509111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@microsoft/signalr</a:t>
                </a:r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 xml:space="preserve"> + withAutomaticReconnect()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230118" y="4149725"/>
                <a:ext cx="41227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[Authorize]</a:t>
                </a:r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, read Context.UserIdentifier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3230118" y="4835525"/>
                <a:ext cx="5286545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Proxy passes WebSockets · sticky sessions · backplane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230118" y="5521325"/>
                <a:ext cx="562479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Timeouts · 32 KB max message · groups planned up front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609600" y="2590800"/>
              <a:ext cx="8534400" cy="2752725"/>
              <a:chOff x="609600" y="2590800"/>
              <a:chExt cx="8534400" cy="2752725"/>
            </a:xfrm>
          </p:grpSpPr>
          <p:sp>
            <p:nvSpPr>
              <p:cNvPr id="26" name="Line 26"/>
              <p:cNvSpPr/>
              <p:nvPr/>
            </p:nvSpPr>
            <p:spPr>
              <a:xfrm>
                <a:off x="609600" y="25908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27" name="Line 27"/>
              <p:cNvSpPr/>
              <p:nvPr/>
            </p:nvSpPr>
            <p:spPr>
              <a:xfrm>
                <a:off x="609600" y="32766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28" name="Line 28"/>
              <p:cNvSpPr/>
              <p:nvPr/>
            </p:nvSpPr>
            <p:spPr>
              <a:xfrm>
                <a:off x="609600" y="39624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609600" y="46482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609600" y="5334000"/>
                <a:ext cx="8534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34400" h="9525">
                    <a:moveTo>
                      <a:pt x="0" y="0"/>
                    </a:moveTo>
                    <a:lnTo>
                      <a:pt x="8534400" y="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</p:grpSp>
      </p:grpSp>
      <p:grpSp>
        <p:nvGrpSpPr>
          <p:cNvPr id="37" name="pull-quote"/>
          <p:cNvGrpSpPr/>
          <p:nvPr/>
        </p:nvGrpSpPr>
        <p:grpSpPr>
          <a:xfrm>
            <a:off x="9410700" y="1905000"/>
            <a:ext cx="1929514" cy="3810000"/>
            <a:chOff x="9410700" y="1905000"/>
            <a:chExt cx="1929514" cy="3810000"/>
          </a:xfrm>
        </p:grpSpPr>
        <p:sp>
          <p:nvSpPr>
            <p:cNvPr id="33" name="Line 33"/>
            <p:cNvSpPr/>
            <p:nvPr/>
          </p:nvSpPr>
          <p:spPr>
            <a:xfrm>
              <a:off x="9410700" y="1905000"/>
              <a:ext cx="9525" cy="3810000"/>
            </a:xfrm>
            <a:custGeom>
              <a:avLst/>
              <a:gdLst/>
              <a:ahLst/>
              <a:cxnLst/>
              <a:rect l="l" t="t" r="r" b="b"/>
              <a:pathLst>
                <a:path w="9525" h="3810000">
                  <a:moveTo>
                    <a:pt x="0" y="0"/>
                  </a:moveTo>
                  <a:lnTo>
                    <a:pt x="0" y="3810000"/>
                  </a:lnTo>
                </a:path>
              </a:pathLst>
            </a:custGeom>
            <a:noFill/>
            <a:ln w="19050">
              <a:solidFill>
                <a:schemeClr val="accent3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593580" y="1962150"/>
              <a:ext cx="7959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Mindset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586722" y="2413000"/>
              <a:ext cx="1223355" cy="14337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3450"/>
                </a:lnSpc>
              </a:pPr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 hub is</a:t>
              </a:r>
              <a:b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 public</a:t>
              </a:r>
              <a:b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API.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592818" y="3975100"/>
              <a:ext cx="1747396" cy="11799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Anyone connected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can call any public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method, with any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arguments.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8" name="TextBox 38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635082" cy="1000125"/>
            <a:chOff x="590550" y="609600"/>
            <a:chExt cx="7635082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33439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63508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Three hubs, one Redis backplane</a:t>
              </a:r>
            </a:p>
          </p:txBody>
        </p:sp>
      </p:grpSp>
      <p:grpSp>
        <p:nvGrpSpPr>
          <p:cNvPr id="13" name="page-item"/>
          <p:cNvGrpSpPr/>
          <p:nvPr/>
        </p:nvGrpSpPr>
        <p:grpSpPr>
          <a:xfrm>
            <a:off x="609600" y="2095500"/>
            <a:ext cx="2667000" cy="1143000"/>
            <a:chOff x="609600" y="2095500"/>
            <a:chExt cx="2667000" cy="1143000"/>
          </a:xfrm>
        </p:grpSpPr>
        <p:sp>
          <p:nvSpPr>
            <p:cNvPr id="5" name="Rectangle 5"/>
            <p:cNvSpPr/>
            <p:nvPr/>
          </p:nvSpPr>
          <p:spPr>
            <a:xfrm>
              <a:off x="609600" y="2095500"/>
              <a:ext cx="2667000" cy="1143000"/>
            </a:xfrm>
            <a:prstGeom prst="roundRect">
              <a:avLst>
                <a:gd name="adj" fmla="val 3333"/>
              </a:avLst>
            </a:prstGeom>
            <a:solidFill>
              <a:schemeClr val="lt2"/>
            </a:solidFill>
            <a:ln w="14288">
              <a:solidFill>
                <a:schemeClr val="accent2"/>
              </a:solidFill>
            </a:ln>
          </p:spPr>
        </p:sp>
        <p:grpSp>
          <p:nvGrpSpPr>
            <p:cNvPr id="9" name="Group 9"/>
            <p:cNvGrpSpPr/>
            <p:nvPr/>
          </p:nvGrpSpPr>
          <p:grpSpPr>
            <a:xfrm>
              <a:off x="806450" y="2273300"/>
              <a:ext cx="177801" cy="177801"/>
              <a:chOff x="806450" y="2273300"/>
              <a:chExt cx="177801" cy="177801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806450" y="2317750"/>
                <a:ext cx="1778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9525">
                    <a:moveTo>
                      <a:pt x="0" y="0"/>
                    </a:moveTo>
                    <a:lnTo>
                      <a:pt x="177801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806450" y="2273300"/>
                <a:ext cx="177801" cy="177801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77801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55575" y="0"/>
                    </a:lnTo>
                    <a:cubicBezTo>
                      <a:pt x="167850" y="0"/>
                      <a:pt x="177801" y="9950"/>
                      <a:pt x="177801" y="22225"/>
                    </a:cubicBezTo>
                    <a:lnTo>
                      <a:pt x="177801" y="155575"/>
                    </a:lnTo>
                    <a:cubicBezTo>
                      <a:pt x="177801" y="167850"/>
                      <a:pt x="167850" y="177801"/>
                      <a:pt x="155575" y="177801"/>
                    </a:cubicBezTo>
                    <a:lnTo>
                      <a:pt x="22225" y="177801"/>
                    </a:lnTo>
                    <a:cubicBezTo>
                      <a:pt x="9950" y="177801"/>
                      <a:pt x="0" y="167850"/>
                      <a:pt x="0" y="1555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850900" y="22733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0" name="TextBox 10"/>
            <p:cNvSpPr txBox="1"/>
            <p:nvPr/>
          </p:nvSpPr>
          <p:spPr>
            <a:xfrm>
              <a:off x="1113282" y="2184400"/>
              <a:ext cx="137575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Item page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3618" y="2578100"/>
              <a:ext cx="124612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itemBid.js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3618" y="2863850"/>
              <a:ext cx="87193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/bidhub</a:t>
              </a:r>
            </a:p>
          </p:txBody>
        </p:sp>
      </p:grpSp>
      <p:grpSp>
        <p:nvGrpSpPr>
          <p:cNvPr id="22" name="page-event"/>
          <p:cNvGrpSpPr/>
          <p:nvPr/>
        </p:nvGrpSpPr>
        <p:grpSpPr>
          <a:xfrm>
            <a:off x="609600" y="3619500"/>
            <a:ext cx="2667000" cy="1143000"/>
            <a:chOff x="609600" y="3619500"/>
            <a:chExt cx="2667000" cy="1143000"/>
          </a:xfrm>
        </p:grpSpPr>
        <p:sp>
          <p:nvSpPr>
            <p:cNvPr id="14" name="Rectangle 14"/>
            <p:cNvSpPr/>
            <p:nvPr/>
          </p:nvSpPr>
          <p:spPr>
            <a:xfrm>
              <a:off x="609600" y="3619500"/>
              <a:ext cx="2667000" cy="1143000"/>
            </a:xfrm>
            <a:prstGeom prst="roundRect">
              <a:avLst>
                <a:gd name="adj" fmla="val 3333"/>
              </a:avLst>
            </a:prstGeom>
            <a:solidFill>
              <a:schemeClr val="lt2"/>
            </a:solidFill>
            <a:ln w="14288">
              <a:solidFill>
                <a:schemeClr val="accent2"/>
              </a:solidFill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806450" y="3797300"/>
              <a:ext cx="177801" cy="177801"/>
              <a:chOff x="806450" y="3797300"/>
              <a:chExt cx="177801" cy="177801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806450" y="3841750"/>
                <a:ext cx="1778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9525">
                    <a:moveTo>
                      <a:pt x="0" y="0"/>
                    </a:moveTo>
                    <a:lnTo>
                      <a:pt x="177801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06450" y="3797300"/>
                <a:ext cx="177801" cy="177801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177801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55575" y="0"/>
                    </a:lnTo>
                    <a:cubicBezTo>
                      <a:pt x="167850" y="0"/>
                      <a:pt x="177801" y="9950"/>
                      <a:pt x="177801" y="22225"/>
                    </a:cubicBezTo>
                    <a:lnTo>
                      <a:pt x="177801" y="155575"/>
                    </a:lnTo>
                    <a:cubicBezTo>
                      <a:pt x="177801" y="167850"/>
                      <a:pt x="167850" y="177801"/>
                      <a:pt x="155575" y="177801"/>
                    </a:cubicBezTo>
                    <a:lnTo>
                      <a:pt x="22225" y="177801"/>
                    </a:lnTo>
                    <a:cubicBezTo>
                      <a:pt x="9950" y="177801"/>
                      <a:pt x="0" y="167850"/>
                      <a:pt x="0" y="1555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50900" y="37973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113282" y="3708400"/>
              <a:ext cx="15016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1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Event page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618" y="4102100"/>
              <a:ext cx="223042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eventBidUpdates.js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3618" y="4387850"/>
              <a:ext cx="233794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/bidhub + /eventhub</a:t>
              </a:r>
            </a:p>
          </p:txBody>
        </p:sp>
      </p:grpSp>
      <p:grpSp>
        <p:nvGrpSpPr>
          <p:cNvPr id="25" name="links-browsers"/>
          <p:cNvGrpSpPr/>
          <p:nvPr/>
        </p:nvGrpSpPr>
        <p:grpSpPr>
          <a:xfrm>
            <a:off x="3314700" y="2667000"/>
            <a:ext cx="1066800" cy="1238251"/>
            <a:chOff x="3314700" y="2667000"/>
            <a:chExt cx="1066800" cy="1238251"/>
          </a:xfrm>
        </p:grpSpPr>
        <p:sp>
          <p:nvSpPr>
            <p:cNvPr id="23" name="Line 23"/>
            <p:cNvSpPr/>
            <p:nvPr/>
          </p:nvSpPr>
          <p:spPr>
            <a:xfrm>
              <a:off x="3314700" y="2667000"/>
              <a:ext cx="106680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headEnd type="triangle" w="lg" len="lg"/>
              <a:tailEnd type="triangle" w="lg" len="lg"/>
            </a:ln>
          </p:spPr>
        </p:sp>
        <p:sp>
          <p:nvSpPr>
            <p:cNvPr id="24" name="Line 24"/>
            <p:cNvSpPr/>
            <p:nvPr/>
          </p:nvSpPr>
          <p:spPr>
            <a:xfrm>
              <a:off x="3314700" y="3905250"/>
              <a:ext cx="106680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lgDash"/>
              <a:headEnd type="triangle" w="lg" len="lg"/>
              <a:tailEnd type="triangle" w="lg" len="lg"/>
            </a:ln>
          </p:spPr>
        </p:sp>
      </p:grpSp>
      <p:grpSp>
        <p:nvGrpSpPr>
          <p:cNvPr id="52" name="server"/>
          <p:cNvGrpSpPr/>
          <p:nvPr/>
        </p:nvGrpSpPr>
        <p:grpSpPr>
          <a:xfrm>
            <a:off x="4191000" y="1809750"/>
            <a:ext cx="5334000" cy="4191000"/>
            <a:chOff x="4191000" y="1809750"/>
            <a:chExt cx="5334000" cy="4191000"/>
          </a:xfrm>
        </p:grpSpPr>
        <p:sp>
          <p:nvSpPr>
            <p:cNvPr id="26" name="Rectangle 26"/>
            <p:cNvSpPr/>
            <p:nvPr/>
          </p:nvSpPr>
          <p:spPr>
            <a:xfrm>
              <a:off x="4191000" y="1809750"/>
              <a:ext cx="5334000" cy="4191000"/>
            </a:xfrm>
            <a:prstGeom prst="roundRect">
              <a:avLst>
                <a:gd name="adj" fmla="val 909"/>
              </a:avLst>
            </a:prstGeom>
            <a:noFill/>
            <a:ln w="14288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411980" y="1905000"/>
              <a:ext cx="2010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ASP.NET Core server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419600" y="2247900"/>
              <a:ext cx="2819400" cy="1676400"/>
            </a:xfrm>
            <a:prstGeom prst="roundRect">
              <a:avLst>
                <a:gd name="adj" fmla="val 2273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4601718" y="2349500"/>
              <a:ext cx="17432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 xml:space="preserve">BidHub </a:t>
              </a:r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/bidhub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601718" y="2673350"/>
              <a:ext cx="20329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in: AddBid · AddBids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01718" y="2978150"/>
              <a:ext cx="15971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out: updateItem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058918" y="3263900"/>
              <a:ext cx="12505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updateEvent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58918" y="3549650"/>
              <a:ext cx="19751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addBidSuccess · Fail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391400" y="2247900"/>
              <a:ext cx="1905000" cy="1676400"/>
            </a:xfrm>
            <a:prstGeom prst="roundRect">
              <a:avLst>
                <a:gd name="adj" fmla="val 2273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554468" y="2349500"/>
              <a:ext cx="100793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EventHub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54468" y="2635250"/>
              <a:ext cx="11162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/eventhub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54468" y="2978150"/>
              <a:ext cx="163102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out: closeItem(s)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992618" y="3263900"/>
              <a:ext cx="10554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closeEvent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4419600" y="4305300"/>
              <a:ext cx="2819400" cy="914400"/>
            </a:xfrm>
            <a:prstGeom prst="roundRect">
              <a:avLst>
                <a:gd name="adj" fmla="val 4167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4601718" y="4425950"/>
              <a:ext cx="12522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MessageHub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601718" y="4749800"/>
              <a:ext cx="294014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sendMessage · never mapped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391400" y="4305300"/>
              <a:ext cx="19050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7591425" y="4448175"/>
              <a:ext cx="171450" cy="171450"/>
              <a:chOff x="7591425" y="4448175"/>
              <a:chExt cx="171450" cy="17145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7591425" y="44481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85725"/>
                    </a:moveTo>
                    <a:cubicBezTo>
                      <a:pt x="0" y="133070"/>
                      <a:pt x="38380" y="171450"/>
                      <a:pt x="85725" y="171450"/>
                    </a:cubicBezTo>
                    <a:cubicBezTo>
                      <a:pt x="133070" y="171450"/>
                      <a:pt x="171450" y="133070"/>
                      <a:pt x="171450" y="85725"/>
                    </a:cubicBezTo>
                    <a:cubicBezTo>
                      <a:pt x="171450" y="38380"/>
                      <a:pt x="133070" y="0"/>
                      <a:pt x="85725" y="0"/>
                    </a:cubicBezTo>
                    <a:cubicBezTo>
                      <a:pt x="38380" y="0"/>
                      <a:pt x="0" y="38380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677150" y="4486275"/>
                <a:ext cx="2857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76200">
                    <a:moveTo>
                      <a:pt x="0" y="0"/>
                    </a:moveTo>
                    <a:lnTo>
                      <a:pt x="0" y="47625"/>
                    </a:lnTo>
                    <a:lnTo>
                      <a:pt x="28575" y="76200"/>
                    </a:lnTo>
                  </a:path>
                </a:pathLst>
              </a:custGeom>
              <a:noFill/>
              <a:ln w="19050">
                <a:solidFill>
                  <a:schemeClr val="accent2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7859268" y="4406900"/>
              <a:ext cx="105906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Jobs push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54468" y="4768850"/>
              <a:ext cx="138135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dk1"/>
                  </a:solidFill>
                  <a:latin typeface="Consolas"/>
                  <a:ea typeface="Consolas"/>
                  <a:cs typeface="Consolas"/>
                </a:rPr>
                <a:t>IHubContext</a:t>
              </a:r>
            </a:p>
          </p:txBody>
        </p:sp>
        <p:sp>
          <p:nvSpPr>
            <p:cNvPr id="48" name="Line 48"/>
            <p:cNvSpPr/>
            <p:nvPr/>
          </p:nvSpPr>
          <p:spPr>
            <a:xfrm flipV="1">
              <a:off x="8343900" y="3981450"/>
              <a:ext cx="1" cy="304800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419600" y="5410200"/>
              <a:ext cx="4876800" cy="457200"/>
            </a:xfrm>
            <a:prstGeom prst="roundRect">
              <a:avLst>
                <a:gd name="adj" fmla="val 8333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602480" y="5514975"/>
              <a:ext cx="15538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 runtime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78880" y="5527675"/>
              <a:ext cx="25971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AddStackExchangeRedis()</a:t>
              </a:r>
            </a:p>
          </p:txBody>
        </p:sp>
      </p:grpSp>
      <p:grpSp>
        <p:nvGrpSpPr>
          <p:cNvPr id="61" name="redis"/>
          <p:cNvGrpSpPr/>
          <p:nvPr/>
        </p:nvGrpSpPr>
        <p:grpSpPr>
          <a:xfrm>
            <a:off x="9334500" y="5334000"/>
            <a:ext cx="2247900" cy="609600"/>
            <a:chOff x="9334500" y="5334000"/>
            <a:chExt cx="2247900" cy="609600"/>
          </a:xfrm>
        </p:grpSpPr>
        <p:sp>
          <p:nvSpPr>
            <p:cNvPr id="53" name="Line 53"/>
            <p:cNvSpPr/>
            <p:nvPr/>
          </p:nvSpPr>
          <p:spPr>
            <a:xfrm>
              <a:off x="9334500" y="5638800"/>
              <a:ext cx="533400" cy="9525"/>
            </a:xfrm>
            <a:custGeom>
              <a:avLst/>
              <a:gdLst/>
              <a:ahLst/>
              <a:cxnLst/>
              <a:rect l="l" t="t" r="r" b="b"/>
              <a:pathLst>
                <a:path w="533400" h="9525">
                  <a:moveTo>
                    <a:pt x="0" y="0"/>
                  </a:moveTo>
                  <a:lnTo>
                    <a:pt x="5334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  <a:prstDash val="dash"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906000" y="5334000"/>
              <a:ext cx="1676400" cy="609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10058400" y="5476875"/>
              <a:ext cx="152400" cy="171450"/>
              <a:chOff x="10058400" y="5476875"/>
              <a:chExt cx="152400" cy="17145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10058400" y="5476875"/>
                <a:ext cx="1524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57150">
                    <a:moveTo>
                      <a:pt x="0" y="28575"/>
                    </a:moveTo>
                    <a:cubicBezTo>
                      <a:pt x="0" y="44357"/>
                      <a:pt x="34116" y="57150"/>
                      <a:pt x="76200" y="57150"/>
                    </a:cubicBezTo>
                    <a:cubicBezTo>
                      <a:pt x="118284" y="57150"/>
                      <a:pt x="152400" y="44357"/>
                      <a:pt x="152400" y="28575"/>
                    </a:cubicBezTo>
                    <a:cubicBezTo>
                      <a:pt x="152400" y="12793"/>
                      <a:pt x="118284" y="0"/>
                      <a:pt x="76200" y="0"/>
                    </a:cubicBezTo>
                    <a:cubicBezTo>
                      <a:pt x="34116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10058400" y="550545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10058400" y="556260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317480" y="5429250"/>
              <a:ext cx="53333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Redis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014204" y="5695950"/>
              <a:ext cx="10667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↔ other servers</a:t>
              </a:r>
            </a:p>
          </p:txBody>
        </p:sp>
      </p:grpSp>
      <p:grpSp>
        <p:nvGrpSpPr>
          <p:cNvPr id="68" name="legend"/>
          <p:cNvGrpSpPr/>
          <p:nvPr/>
        </p:nvGrpSpPr>
        <p:grpSpPr>
          <a:xfrm>
            <a:off x="9906000" y="2124075"/>
            <a:ext cx="1679362" cy="1055370"/>
            <a:chOff x="9906000" y="2124075"/>
            <a:chExt cx="1679362" cy="1055370"/>
          </a:xfrm>
        </p:grpSpPr>
        <p:sp>
          <p:nvSpPr>
            <p:cNvPr id="62" name="Rectangle 62"/>
            <p:cNvSpPr/>
            <p:nvPr/>
          </p:nvSpPr>
          <p:spPr>
            <a:xfrm>
              <a:off x="9906000" y="2152650"/>
              <a:ext cx="190500" cy="190500"/>
            </a:xfrm>
            <a:prstGeom prst="roundRect">
              <a:avLst>
                <a:gd name="adj" fmla="val 10000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0184130" y="2124075"/>
              <a:ext cx="14012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Geronimo code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9906000" y="2533650"/>
              <a:ext cx="190500" cy="190500"/>
            </a:xfrm>
            <a:prstGeom prst="roundRect">
              <a:avLst>
                <a:gd name="adj" fmla="val 10000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266667" sp="200000"/>
              </a:custDash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10184130" y="2505075"/>
              <a:ext cx="68772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66" name="Line 66"/>
            <p:cNvSpPr/>
            <p:nvPr/>
          </p:nvSpPr>
          <p:spPr>
            <a:xfrm>
              <a:off x="9906000" y="3009900"/>
              <a:ext cx="190500" cy="9525"/>
            </a:xfrm>
            <a:custGeom>
              <a:avLst/>
              <a:gdLst/>
              <a:ahLst/>
              <a:cxnLst/>
              <a:rect l="l" t="t" r="r" b="b"/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19050">
              <a:solidFill>
                <a:schemeClr val="accent3"/>
              </a:solidFill>
              <a:prstDash val="lgDash"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10184130" y="2886075"/>
              <a:ext cx="10341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WebSocket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69" name="TextBox 69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7991879" cy="1000125"/>
            <a:chOff x="590550" y="609600"/>
            <a:chExt cx="7991879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243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Phase 1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7991879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Two lines, then SignalR takes over</a:t>
              </a:r>
            </a:p>
          </p:txBody>
        </p:sp>
      </p:grpSp>
      <p:grpSp>
        <p:nvGrpSpPr>
          <p:cNvPr id="17" name="geronimo-code"/>
          <p:cNvGrpSpPr/>
          <p:nvPr/>
        </p:nvGrpSpPr>
        <p:grpSpPr>
          <a:xfrm>
            <a:off x="609600" y="1866900"/>
            <a:ext cx="3810000" cy="3581400"/>
            <a:chOff x="609600" y="1866900"/>
            <a:chExt cx="3810000" cy="3581400"/>
          </a:xfrm>
        </p:grpSpPr>
        <p:sp>
          <p:nvSpPr>
            <p:cNvPr id="5" name="Rectangle 5"/>
            <p:cNvSpPr/>
            <p:nvPr/>
          </p:nvSpPr>
          <p:spPr>
            <a:xfrm>
              <a:off x="609600" y="1866900"/>
              <a:ext cx="3810000" cy="3581400"/>
            </a:xfrm>
            <a:prstGeom prst="roundRect">
              <a:avLst>
                <a:gd name="adj" fmla="val 1064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1962150"/>
              <a:ext cx="271331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Geronimo writes · itemBid.js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792480" y="2374900"/>
              <a:ext cx="3513963" cy="2465070"/>
              <a:chOff x="792480" y="2374900"/>
              <a:chExt cx="3513963" cy="2465070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92480" y="2374900"/>
                <a:ext cx="20143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const connection =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982980" y="2660650"/>
                <a:ext cx="292415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new HubConnectionBuilder()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982980" y="2946400"/>
                <a:ext cx="213459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.withUrl("/bidhub")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982980" y="3232150"/>
                <a:ext cx="280606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.withAutomaticReconnect()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982980" y="3517900"/>
                <a:ext cx="101479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.build();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92480" y="3975100"/>
                <a:ext cx="20143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connection.start()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82980" y="4260850"/>
                <a:ext cx="123691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.then(() =&gt;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173480" y="4546600"/>
                <a:ext cx="313296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bidButton.disabled = false);</a:t>
                </a:r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792480" y="5010150"/>
              <a:ext cx="32279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PLACE BID stays off until connected</a:t>
              </a:r>
            </a:p>
          </p:txBody>
        </p:sp>
      </p:grpSp>
      <p:grpSp>
        <p:nvGrpSpPr>
          <p:cNvPr id="19" name="handoff"/>
          <p:cNvGrpSpPr/>
          <p:nvPr/>
        </p:nvGrpSpPr>
        <p:grpSpPr>
          <a:xfrm>
            <a:off x="4476750" y="4038600"/>
            <a:ext cx="781050" cy="1"/>
            <a:chOff x="4476750" y="4038600"/>
            <a:chExt cx="781050" cy="1"/>
          </a:xfrm>
        </p:grpSpPr>
        <p:sp>
          <p:nvSpPr>
            <p:cNvPr id="18" name="Line 18"/>
            <p:cNvSpPr/>
            <p:nvPr/>
          </p:nvSpPr>
          <p:spPr>
            <a:xfrm>
              <a:off x="4476750" y="4038600"/>
              <a:ext cx="7810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</p:grpSp>
      <p:grpSp>
        <p:nvGrpSpPr>
          <p:cNvPr id="44" name="signalr-sequence"/>
          <p:cNvGrpSpPr/>
          <p:nvPr/>
        </p:nvGrpSpPr>
        <p:grpSpPr>
          <a:xfrm>
            <a:off x="5372100" y="1866900"/>
            <a:ext cx="6210300" cy="3581400"/>
            <a:chOff x="5372100" y="1866900"/>
            <a:chExt cx="6210300" cy="3581400"/>
          </a:xfrm>
        </p:grpSpPr>
        <p:sp>
          <p:nvSpPr>
            <p:cNvPr id="20" name="Rectangle 20"/>
            <p:cNvSpPr/>
            <p:nvPr/>
          </p:nvSpPr>
          <p:spPr>
            <a:xfrm>
              <a:off x="5372100" y="1866900"/>
              <a:ext cx="6210300" cy="3581400"/>
            </a:xfrm>
            <a:prstGeom prst="roundRect">
              <a:avLst>
                <a:gd name="adj" fmla="val 1064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554980" y="1962150"/>
              <a:ext cx="12456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 does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5698893" y="2286000"/>
              <a:ext cx="5470992" cy="293370"/>
              <a:chOff x="5698893" y="2286000"/>
              <a:chExt cx="5470992" cy="293370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5698893" y="2286000"/>
                <a:ext cx="79421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Browser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0547115" y="2286000"/>
                <a:ext cx="62277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Server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6096000" y="2590800"/>
              <a:ext cx="4772025" cy="2705100"/>
              <a:chOff x="6096000" y="2590800"/>
              <a:chExt cx="4772025" cy="2705100"/>
            </a:xfrm>
          </p:grpSpPr>
          <p:sp>
            <p:nvSpPr>
              <p:cNvPr id="25" name="Line 25"/>
              <p:cNvSpPr/>
              <p:nvPr/>
            </p:nvSpPr>
            <p:spPr>
              <a:xfrm>
                <a:off x="6096000" y="2590800"/>
                <a:ext cx="9525" cy="2705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05100">
                    <a:moveTo>
                      <a:pt x="0" y="0"/>
                    </a:moveTo>
                    <a:lnTo>
                      <a:pt x="0" y="2705100"/>
                    </a:lnTo>
                  </a:path>
                </a:pathLst>
              </a:custGeom>
              <a:noFill/>
              <a:ln w="9525">
                <a:solidFill>
                  <a:srgbClr val="526B80"/>
                </a:solidFill>
                <a:prstDash val="dash"/>
              </a:ln>
            </p:spPr>
          </p:sp>
          <p:sp>
            <p:nvSpPr>
              <p:cNvPr id="26" name="Line 26"/>
              <p:cNvSpPr/>
              <p:nvPr/>
            </p:nvSpPr>
            <p:spPr>
              <a:xfrm>
                <a:off x="10858500" y="2590800"/>
                <a:ext cx="9525" cy="2705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705100">
                    <a:moveTo>
                      <a:pt x="0" y="0"/>
                    </a:moveTo>
                    <a:lnTo>
                      <a:pt x="0" y="2705100"/>
                    </a:lnTo>
                  </a:path>
                </a:pathLst>
              </a:custGeom>
              <a:noFill/>
              <a:ln w="9525">
                <a:solidFill>
                  <a:srgbClr val="526B80"/>
                </a:solidFill>
                <a:prstDash val="dash"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>
              <a:off x="6115050" y="2895600"/>
              <a:ext cx="4724400" cy="1905001"/>
              <a:chOff x="6115050" y="2895600"/>
              <a:chExt cx="4724400" cy="1905001"/>
            </a:xfrm>
          </p:grpSpPr>
          <p:sp>
            <p:nvSpPr>
              <p:cNvPr id="28" name="Line 28"/>
              <p:cNvSpPr/>
              <p:nvPr/>
            </p:nvSpPr>
            <p:spPr>
              <a:xfrm>
                <a:off x="6115050" y="2895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29" name="Line 29"/>
              <p:cNvSpPr/>
              <p:nvPr/>
            </p:nvSpPr>
            <p:spPr>
              <a:xfrm flipH="1">
                <a:off x="6134100" y="3276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6115050" y="3657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1" name="Line 31"/>
              <p:cNvSpPr/>
              <p:nvPr/>
            </p:nvSpPr>
            <p:spPr>
              <a:xfrm flipH="1">
                <a:off x="6134100" y="4038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2" name="Line 32"/>
              <p:cNvSpPr/>
              <p:nvPr/>
            </p:nvSpPr>
            <p:spPr>
              <a:xfrm>
                <a:off x="6115050" y="4419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3" name="Line 33"/>
              <p:cNvSpPr/>
              <p:nvPr/>
            </p:nvSpPr>
            <p:spPr>
              <a:xfrm flipH="1">
                <a:off x="6134100" y="4800600"/>
                <a:ext cx="4705350" cy="1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</p:grpSp>
        <p:sp>
          <p:nvSpPr>
            <p:cNvPr id="35" name="Line 35"/>
            <p:cNvSpPr/>
            <p:nvPr/>
          </p:nvSpPr>
          <p:spPr>
            <a:xfrm>
              <a:off x="6134100" y="5181600"/>
              <a:ext cx="4686300" cy="9525"/>
            </a:xfrm>
            <a:custGeom>
              <a:avLst/>
              <a:gdLst/>
              <a:ahLst/>
              <a:cxnLst/>
              <a:rect l="l" t="t" r="r" b="b"/>
              <a:pathLst>
                <a:path w="4686300" h="9525">
                  <a:moveTo>
                    <a:pt x="0" y="0"/>
                  </a:moveTo>
                  <a:lnTo>
                    <a:pt x="4686300" y="0"/>
                  </a:lnTo>
                </a:path>
              </a:pathLst>
            </a:custGeom>
            <a:noFill/>
            <a:ln w="14288">
              <a:solidFill>
                <a:schemeClr val="accent3"/>
              </a:solidFill>
              <a:prstDash val="lgDash"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6748177" y="2641600"/>
              <a:ext cx="3458147" cy="2579370"/>
              <a:chOff x="6748177" y="2641600"/>
              <a:chExt cx="3458147" cy="2579370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7233395" y="2641600"/>
                <a:ext cx="24877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POST /bidhub/negotiate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6911249" y="3022600"/>
                <a:ext cx="313200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connectionToken · transports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7120128" y="3403600"/>
                <a:ext cx="271424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GET /bidhub?id=… Upgrade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184390" y="3784600"/>
                <a:ext cx="258572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101 Switching Protocols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748177" y="4165600"/>
                <a:ext cx="34581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{"protocol":"json","version":1}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291108" y="4546600"/>
                <a:ext cx="237228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{} → OnConnectedAsync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025830" y="4927600"/>
                <a:ext cx="290283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ping every 15 s, both ways</a:t>
                </a:r>
              </a:p>
            </p:txBody>
          </p:sp>
        </p:grpSp>
      </p:grpSp>
      <p:grpSp>
        <p:nvGrpSpPr>
          <p:cNvPr id="50" name="reconnect"/>
          <p:cNvGrpSpPr/>
          <p:nvPr/>
        </p:nvGrpSpPr>
        <p:grpSpPr>
          <a:xfrm>
            <a:off x="609600" y="5676900"/>
            <a:ext cx="10972800" cy="462407"/>
            <a:chOff x="609600" y="5676900"/>
            <a:chExt cx="10972800" cy="462407"/>
          </a:xfrm>
        </p:grpSpPr>
        <p:sp>
          <p:nvSpPr>
            <p:cNvPr id="45" name="Line 45"/>
            <p:cNvSpPr/>
            <p:nvPr/>
          </p:nvSpPr>
          <p:spPr>
            <a:xfrm>
              <a:off x="609600" y="56769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54050" y="5850413"/>
              <a:ext cx="177801" cy="186375"/>
              <a:chOff x="654050" y="5850413"/>
              <a:chExt cx="177801" cy="18637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54050" y="585041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177801" y="82075"/>
                    </a:moveTo>
                    <a:cubicBezTo>
                      <a:pt x="172214" y="41876"/>
                      <a:pt x="140416" y="10388"/>
                      <a:pt x="100165" y="5194"/>
                    </a:cubicBezTo>
                    <a:cubicBezTo>
                      <a:pt x="59913" y="0"/>
                      <a:pt x="21164" y="22386"/>
                      <a:pt x="5556" y="59850"/>
                    </a:cubicBezTo>
                    <a:moveTo>
                      <a:pt x="0" y="15400"/>
                    </a:moveTo>
                    <a:lnTo>
                      <a:pt x="0" y="59850"/>
                    </a:lnTo>
                    <a:lnTo>
                      <a:pt x="44450" y="59850"/>
                    </a:lnTo>
                  </a:path>
                </a:pathLst>
              </a:custGeom>
              <a:noFill/>
              <a:ln w="22225">
                <a:solidFill>
                  <a:srgbClr val="B36A13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654050" y="5954713"/>
                <a:ext cx="177801" cy="82075"/>
              </a:xfrm>
              <a:custGeom>
                <a:avLst/>
                <a:gdLst/>
                <a:ahLst/>
                <a:cxnLst/>
                <a:rect l="l" t="t" r="r" b="b"/>
                <a:pathLst>
                  <a:path w="177801" h="82075">
                    <a:moveTo>
                      <a:pt x="0" y="0"/>
                    </a:moveTo>
                    <a:cubicBezTo>
                      <a:pt x="5587" y="40199"/>
                      <a:pt x="37384" y="71688"/>
                      <a:pt x="77636" y="76881"/>
                    </a:cubicBezTo>
                    <a:cubicBezTo>
                      <a:pt x="117888" y="82075"/>
                      <a:pt x="156637" y="59689"/>
                      <a:pt x="172244" y="22225"/>
                    </a:cubicBezTo>
                    <a:moveTo>
                      <a:pt x="177801" y="66675"/>
                    </a:moveTo>
                    <a:lnTo>
                      <a:pt x="177801" y="22225"/>
                    </a:lnTo>
                    <a:lnTo>
                      <a:pt x="133350" y="22225"/>
                    </a:lnTo>
                  </a:path>
                </a:pathLst>
              </a:custGeom>
              <a:noFill/>
              <a:ln w="22225">
                <a:solidFill>
                  <a:srgbClr val="B36A13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982218" y="5816600"/>
              <a:ext cx="933027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Lost?</a:t>
              </a: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</a:t>
              </a:r>
              <a:r>
                <a:rPr lang="e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onreconnecting → banner</a:t>
              </a: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en" sz="165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retry after 0, 2, 10, 30 s</a:t>
              </a:r>
              <a:r>
                <a:rPr lang="en" sz="165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· </a:t>
              </a:r>
              <a:r>
                <a:rPr lang="en" sz="165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onreconnected → “Refresh your page”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1" name="TextBox 51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221392" cy="1000125"/>
            <a:chOff x="590550" y="609600"/>
            <a:chExt cx="6221392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243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Phase 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221392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One click becomes AddBid</a:t>
              </a:r>
            </a:p>
          </p:txBody>
        </p:sp>
      </p:grpSp>
      <p:grpSp>
        <p:nvGrpSpPr>
          <p:cNvPr id="24" name="lane-browser"/>
          <p:cNvGrpSpPr/>
          <p:nvPr/>
        </p:nvGrpSpPr>
        <p:grpSpPr>
          <a:xfrm>
            <a:off x="609600" y="1866900"/>
            <a:ext cx="2819400" cy="4305300"/>
            <a:chOff x="609600" y="1866900"/>
            <a:chExt cx="28194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866900"/>
              <a:ext cx="2819400" cy="4305300"/>
            </a:xfrm>
            <a:prstGeom prst="roundRect">
              <a:avLst>
                <a:gd name="adj" fmla="val 1351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1962150"/>
              <a:ext cx="19104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Browser · itemBid.js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833438" y="2479675"/>
              <a:ext cx="188913" cy="222254"/>
              <a:chOff x="833438" y="2479675"/>
              <a:chExt cx="188913" cy="22225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889000" y="2490788"/>
                <a:ext cx="33338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111125">
                    <a:moveTo>
                      <a:pt x="0" y="111125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100013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922338" y="2546350"/>
                <a:ext cx="33338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44450">
                    <a:moveTo>
                      <a:pt x="0" y="38894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955675" y="2557463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0" y="16669"/>
                    </a:move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836946" y="2568575"/>
                <a:ext cx="185405" cy="133354"/>
              </a:xfrm>
              <a:custGeom>
                <a:avLst/>
                <a:gdLst/>
                <a:ahLst/>
                <a:cxnLst/>
                <a:rect l="l" t="t" r="r" b="b"/>
                <a:pathLst>
                  <a:path w="185405" h="133354">
                    <a:moveTo>
                      <a:pt x="152067" y="16669"/>
                    </a:moveTo>
                    <a:cubicBezTo>
                      <a:pt x="152067" y="7463"/>
                      <a:pt x="159530" y="0"/>
                      <a:pt x="168736" y="0"/>
                    </a:cubicBezTo>
                    <a:cubicBezTo>
                      <a:pt x="177942" y="0"/>
                      <a:pt x="185405" y="7463"/>
                      <a:pt x="185405" y="16669"/>
                    </a:cubicBezTo>
                    <a:lnTo>
                      <a:pt x="185405" y="66675"/>
                    </a:lnTo>
                    <a:cubicBezTo>
                      <a:pt x="185405" y="103499"/>
                      <a:pt x="155553" y="133350"/>
                      <a:pt x="118730" y="133350"/>
                    </a:cubicBezTo>
                    <a:lnTo>
                      <a:pt x="96505" y="133350"/>
                    </a:lnTo>
                    <a:lnTo>
                      <a:pt x="98816" y="133350"/>
                    </a:lnTo>
                    <a:cubicBezTo>
                      <a:pt x="76386" y="133354"/>
                      <a:pt x="55457" y="122080"/>
                      <a:pt x="43120" y="103347"/>
                    </a:cubicBezTo>
                    <a:lnTo>
                      <a:pt x="40942" y="100013"/>
                    </a:lnTo>
                    <a:cubicBezTo>
                      <a:pt x="37475" y="94690"/>
                      <a:pt x="25307" y="73476"/>
                      <a:pt x="4426" y="36360"/>
                    </a:cubicBezTo>
                    <a:cubicBezTo>
                      <a:pt x="0" y="28493"/>
                      <a:pt x="2640" y="18532"/>
                      <a:pt x="10382" y="13891"/>
                    </a:cubicBezTo>
                    <a:cubicBezTo>
                      <a:pt x="18542" y="8995"/>
                      <a:pt x="28986" y="10277"/>
                      <a:pt x="35719" y="17002"/>
                    </a:cubicBezTo>
                    <a:lnTo>
                      <a:pt x="52054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844550" y="24796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11113" y="11113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833438" y="2535238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11113" y="0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955675" y="24796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0" y="11113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966788" y="2524125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153668" y="2463800"/>
              <a:ext cx="11799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PLACE BID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53668" y="2768600"/>
              <a:ext cx="182881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→ CONFIRM panel</a:t>
              </a:r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792480" y="3479800"/>
              <a:ext cx="2441638" cy="1150620"/>
              <a:chOff x="792480" y="3479800"/>
              <a:chExt cx="2441638" cy="1150620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792480" y="3479800"/>
                <a:ext cx="201434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connection.invoke(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82980" y="3765550"/>
                <a:ext cx="193000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"AddBid", itemId,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982980" y="4051300"/>
                <a:ext cx="225113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b="1" dirty="0">
                    <a:solidFill>
                      <a:srgbClr val="B36A13"/>
                    </a:solidFill>
                    <a:latin typeface="Consolas"/>
                    <a:ea typeface="Consolas"/>
                    <a:cs typeface="Consolas"/>
                  </a:rPr>
                  <a:t>bidderId</a:t>
                </a:r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, bidAmount,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82980" y="4337050"/>
                <a:ext cx="215526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isBuyNow, isMaxBid)</a:t>
                </a:r>
              </a:p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792480" y="5130800"/>
              <a:ext cx="1836268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The Promise waits for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a Completion (type 3)</a:t>
              </a:r>
            </a:p>
          </p:txBody>
        </p:sp>
      </p:grpSp>
      <p:grpSp>
        <p:nvGrpSpPr>
          <p:cNvPr id="40" name="lane-signalr"/>
          <p:cNvGrpSpPr/>
          <p:nvPr/>
        </p:nvGrpSpPr>
        <p:grpSpPr>
          <a:xfrm>
            <a:off x="3314700" y="1866900"/>
            <a:ext cx="3048000" cy="4305300"/>
            <a:chOff x="3314700" y="1866900"/>
            <a:chExt cx="3048000" cy="4305300"/>
          </a:xfrm>
        </p:grpSpPr>
        <p:sp>
          <p:nvSpPr>
            <p:cNvPr id="25" name="Rectangle 25"/>
            <p:cNvSpPr/>
            <p:nvPr/>
          </p:nvSpPr>
          <p:spPr>
            <a:xfrm>
              <a:off x="3657600" y="1866900"/>
              <a:ext cx="2705100" cy="4305300"/>
            </a:xfrm>
            <a:prstGeom prst="roundRect">
              <a:avLst>
                <a:gd name="adj" fmla="val 1408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840480" y="196215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3314700" y="3600450"/>
              <a:ext cx="45720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3810000" y="3352800"/>
              <a:ext cx="2400300" cy="2019300"/>
              <a:chOff x="3810000" y="3352800"/>
              <a:chExt cx="2400300" cy="20193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3810000" y="3352800"/>
                <a:ext cx="24003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3810000" y="4114800"/>
                <a:ext cx="24003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  <p:sp>
            <p:nvSpPr>
              <p:cNvPr id="30" name="Rectangle 30"/>
              <p:cNvSpPr/>
              <p:nvPr/>
            </p:nvSpPr>
            <p:spPr>
              <a:xfrm>
                <a:off x="3810000" y="4876800"/>
                <a:ext cx="2400300" cy="495300"/>
              </a:xfrm>
              <a:prstGeom prst="roundRect">
                <a:avLst>
                  <a:gd name="adj" fmla="val 7692"/>
                </a:avLst>
              </a:prstGeom>
              <a:solidFill>
                <a:srgbClr val="FFFFFF"/>
              </a:solidFill>
              <a:ln w="14288">
                <a:solidFill>
                  <a:schemeClr val="accent3"/>
                </a:solidFill>
                <a:custDash>
                  <a:ds d="400000" sp="266667"/>
                </a:custDash>
              </a:ln>
            </p:spPr>
          </p:sp>
        </p:grpSp>
        <p:grpSp>
          <p:nvGrpSpPr>
            <p:cNvPr id="35" name="Group 35"/>
            <p:cNvGrpSpPr/>
            <p:nvPr/>
          </p:nvGrpSpPr>
          <p:grpSpPr>
            <a:xfrm>
              <a:off x="3943180" y="3479800"/>
              <a:ext cx="2133940" cy="1817370"/>
              <a:chOff x="3943180" y="3479800"/>
              <a:chExt cx="2133940" cy="1817370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3943180" y="3479800"/>
                <a:ext cx="213394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Invocation · type 1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3943713" y="4241800"/>
                <a:ext cx="213287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Find method by name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982770" y="5003800"/>
                <a:ext cx="205476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3"/>
                    </a:solidFill>
                    <a:latin typeface="Consolas"/>
                    <a:ea typeface="Consolas"/>
                    <a:cs typeface="Consolas"/>
                  </a:rPr>
                  <a:t>Create BidHub (DI)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5010150" y="3867150"/>
              <a:ext cx="1" cy="971550"/>
              <a:chOff x="5010150" y="3867150"/>
              <a:chExt cx="1" cy="971550"/>
            </a:xfrm>
          </p:grpSpPr>
          <p:sp>
            <p:nvSpPr>
              <p:cNvPr id="36" name="Line 36"/>
              <p:cNvSpPr/>
              <p:nvPr/>
            </p:nvSpPr>
            <p:spPr>
              <a:xfrm>
                <a:off x="5010150" y="3867150"/>
                <a:ext cx="1" cy="209550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  <p:sp>
            <p:nvSpPr>
              <p:cNvPr id="37" name="Line 37"/>
              <p:cNvSpPr/>
              <p:nvPr/>
            </p:nvSpPr>
            <p:spPr>
              <a:xfrm>
                <a:off x="5010150" y="4629150"/>
                <a:ext cx="1" cy="209550"/>
              </a:xfrm>
              <a:prstGeom prst="line">
                <a:avLst/>
              </a:prstGeom>
              <a:noFill/>
              <a:ln w="19050">
                <a:solidFill>
                  <a:schemeClr val="accent3"/>
                </a:solidFill>
                <a:tailEnd type="triangle" w="lg" len="lg"/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3840480" y="2368550"/>
              <a:ext cx="1671066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Frame on the open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WebSocket, with an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invocationId</a:t>
              </a:r>
            </a:p>
          </p:txBody>
        </p:sp>
      </p:grpSp>
      <p:sp>
        <p:nvSpPr>
          <p:cNvPr id="41" name="lane-bidhub-field"/>
          <p:cNvSpPr/>
          <p:nvPr/>
        </p:nvSpPr>
        <p:spPr>
          <a:xfrm>
            <a:off x="6591300" y="1866900"/>
            <a:ext cx="4991100" cy="4305300"/>
          </a:xfrm>
          <a:prstGeom prst="roundRect">
            <a:avLst>
              <a:gd name="adj" fmla="val 885"/>
            </a:avLst>
          </a:prstGeom>
          <a:solidFill>
            <a:schemeClr val="lt2"/>
          </a:solidFill>
          <a:ln w="19050">
            <a:solidFill>
              <a:schemeClr val="accent2"/>
            </a:solidFill>
          </a:ln>
        </p:spPr>
      </p:sp>
      <p:sp>
        <p:nvSpPr>
          <p:cNvPr id="42" name="Freeform 42"/>
          <p:cNvSpPr/>
          <p:nvPr/>
        </p:nvSpPr>
        <p:spPr>
          <a:xfrm>
            <a:off x="6648450" y="2819400"/>
            <a:ext cx="381000" cy="381000"/>
          </a:xfrm>
          <a:prstGeom prst="flowChartDecision">
            <a:avLst/>
          </a:prstGeom>
          <a:solidFill>
            <a:srgbClr val="FFFFFF"/>
          </a:solidFill>
          <a:ln w="19050">
            <a:solidFill>
              <a:schemeClr val="accent2"/>
            </a:solidFill>
          </a:ln>
        </p:spPr>
      </p:sp>
      <p:grpSp>
        <p:nvGrpSpPr>
          <p:cNvPr id="73" name="lane-bidhub"/>
          <p:cNvGrpSpPr/>
          <p:nvPr/>
        </p:nvGrpSpPr>
        <p:grpSpPr>
          <a:xfrm>
            <a:off x="6248400" y="1962150"/>
            <a:ext cx="5181600" cy="4095750"/>
            <a:chOff x="6248400" y="1962150"/>
            <a:chExt cx="5181600" cy="4095750"/>
          </a:xfrm>
        </p:grpSpPr>
        <p:sp>
          <p:nvSpPr>
            <p:cNvPr id="43" name="Line 43"/>
            <p:cNvSpPr/>
            <p:nvPr/>
          </p:nvSpPr>
          <p:spPr>
            <a:xfrm>
              <a:off x="6248400" y="5124450"/>
              <a:ext cx="209550" cy="9525"/>
            </a:xfrm>
            <a:custGeom>
              <a:avLst/>
              <a:gdLst/>
              <a:ahLst/>
              <a:cxnLst/>
              <a:rect l="l" t="t" r="r" b="b"/>
              <a:pathLst>
                <a:path w="209550" h="9525">
                  <a:moveTo>
                    <a:pt x="0" y="0"/>
                  </a:moveTo>
                  <a:lnTo>
                    <a:pt x="20955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44" name="Line 44"/>
            <p:cNvSpPr/>
            <p:nvPr/>
          </p:nvSpPr>
          <p:spPr>
            <a:xfrm>
              <a:off x="6457950" y="2514600"/>
              <a:ext cx="9525" cy="2609850"/>
            </a:xfrm>
            <a:custGeom>
              <a:avLst/>
              <a:gdLst/>
              <a:ahLst/>
              <a:cxnLst/>
              <a:rect l="l" t="t" r="r" b="b"/>
              <a:pathLst>
                <a:path w="9525" h="2609850">
                  <a:moveTo>
                    <a:pt x="0" y="260985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sp>
          <p:nvSpPr>
            <p:cNvPr id="45" name="Line 45"/>
            <p:cNvSpPr/>
            <p:nvPr/>
          </p:nvSpPr>
          <p:spPr>
            <a:xfrm>
              <a:off x="6457950" y="2514600"/>
              <a:ext cx="19050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74180" y="1962150"/>
              <a:ext cx="26350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BidHub.AddBid · Geronimo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6686550" y="2362200"/>
              <a:ext cx="304800" cy="2781300"/>
              <a:chOff x="6686550" y="2362200"/>
              <a:chExt cx="304800" cy="2781300"/>
            </a:xfrm>
          </p:grpSpPr>
          <p:sp>
            <p:nvSpPr>
              <p:cNvPr id="47" name="Ellipse 47"/>
              <p:cNvSpPr/>
              <p:nvPr/>
            </p:nvSpPr>
            <p:spPr>
              <a:xfrm>
                <a:off x="6686550" y="23622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48" name="Ellipse 48"/>
              <p:cNvSpPr/>
              <p:nvPr/>
            </p:nvSpPr>
            <p:spPr>
              <a:xfrm>
                <a:off x="6686550" y="33528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49" name="Ellipse 49"/>
              <p:cNvSpPr/>
              <p:nvPr/>
            </p:nvSpPr>
            <p:spPr>
              <a:xfrm>
                <a:off x="6686550" y="38481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50" name="Ellipse 50"/>
              <p:cNvSpPr/>
              <p:nvPr/>
            </p:nvSpPr>
            <p:spPr>
              <a:xfrm>
                <a:off x="6686550" y="43434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  <p:sp>
            <p:nvSpPr>
              <p:cNvPr id="51" name="Ellipse 51"/>
              <p:cNvSpPr/>
              <p:nvPr/>
            </p:nvSpPr>
            <p:spPr>
              <a:xfrm>
                <a:off x="6686550" y="4838700"/>
                <a:ext cx="304800" cy="3048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accent2"/>
                </a:solidFill>
              </a:ln>
            </p:spPr>
          </p:sp>
        </p:grpSp>
        <p:grpSp>
          <p:nvGrpSpPr>
            <p:cNvPr id="59" name="Group 59"/>
            <p:cNvGrpSpPr/>
            <p:nvPr/>
          </p:nvGrpSpPr>
          <p:grpSpPr>
            <a:xfrm>
              <a:off x="6779824" y="2406650"/>
              <a:ext cx="118251" cy="2740533"/>
              <a:chOff x="6779824" y="2406650"/>
              <a:chExt cx="118251" cy="2740533"/>
            </a:xfrm>
          </p:grpSpPr>
          <p:sp>
            <p:nvSpPr>
              <p:cNvPr id="53" name="TextBox 53"/>
              <p:cNvSpPr txBox="1"/>
              <p:nvPr/>
            </p:nvSpPr>
            <p:spPr>
              <a:xfrm>
                <a:off x="6779824" y="24066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779824" y="29019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779824" y="33972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779824" y="38925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4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779824" y="43878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5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779824" y="4883150"/>
                <a:ext cx="118251" cy="2640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35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6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154418" y="2387600"/>
              <a:ext cx="3227699" cy="2799207"/>
              <a:chOff x="7154418" y="2387600"/>
              <a:chExt cx="3227699" cy="2799207"/>
            </a:xfrm>
          </p:grpSpPr>
          <p:sp>
            <p:nvSpPr>
              <p:cNvPr id="60" name="TextBox 60"/>
              <p:cNvSpPr txBox="1"/>
              <p:nvPr/>
            </p:nvSpPr>
            <p:spPr>
              <a:xfrm>
                <a:off x="7154418" y="2387600"/>
                <a:ext cx="2243442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GetBidContextAsync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7154418" y="2882900"/>
                <a:ext cx="2236527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ValidateBidRequest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154418" y="3378200"/>
                <a:ext cx="285428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ProcessBidCreationAsync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7154418" y="3873500"/>
                <a:ext cx="3227699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ProcessPostBidActionsAsync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154418" y="4368800"/>
                <a:ext cx="310553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HandleBuyNowPurchaseAsync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154418" y="4864100"/>
                <a:ext cx="2854281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65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BroadcastBidUpdateAsync</a:t>
                </a:r>
              </a:p>
            </p:txBody>
          </p:sp>
        </p:grpSp>
        <p:sp>
          <p:nvSpPr>
            <p:cNvPr id="67" name="TextBox 67"/>
            <p:cNvSpPr txBox="1"/>
            <p:nvPr/>
          </p:nvSpPr>
          <p:spPr>
            <a:xfrm>
              <a:off x="10107930" y="4876800"/>
              <a:ext cx="10259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→ next slide</a:t>
              </a:r>
            </a:p>
          </p:txBody>
        </p:sp>
        <p:sp>
          <p:nvSpPr>
            <p:cNvPr id="68" name="Line 68"/>
            <p:cNvSpPr/>
            <p:nvPr/>
          </p:nvSpPr>
          <p:spPr>
            <a:xfrm>
              <a:off x="9448800" y="3009900"/>
              <a:ext cx="1866900" cy="9525"/>
            </a:xfrm>
            <a:custGeom>
              <a:avLst/>
              <a:gdLst/>
              <a:ahLst/>
              <a:cxnLst/>
              <a:rect l="l" t="t" r="r" b="b"/>
              <a:pathLst>
                <a:path w="1866900" h="9525">
                  <a:moveTo>
                    <a:pt x="0" y="0"/>
                  </a:moveTo>
                  <a:lnTo>
                    <a:pt x="1866900" y="0"/>
                  </a:lnTo>
                </a:path>
              </a:pathLst>
            </a:custGeom>
            <a:noFill/>
            <a:ln w="14288">
              <a:solidFill>
                <a:srgbClr val="526B80"/>
              </a:solidFill>
            </a:ln>
          </p:spPr>
        </p:sp>
        <p:sp>
          <p:nvSpPr>
            <p:cNvPr id="69" name="Line 69"/>
            <p:cNvSpPr/>
            <p:nvPr/>
          </p:nvSpPr>
          <p:spPr>
            <a:xfrm>
              <a:off x="11315700" y="3009900"/>
              <a:ext cx="1" cy="2324100"/>
            </a:xfrm>
            <a:prstGeom prst="line">
              <a:avLst/>
            </a:prstGeom>
            <a:noFill/>
            <a:ln w="14288">
              <a:solidFill>
                <a:srgbClr val="526B80"/>
              </a:solidFill>
              <a:tailEnd type="triangle" w="lg" len="lg"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9555480" y="2724150"/>
              <a:ext cx="59461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invalid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7162800" y="5391150"/>
              <a:ext cx="4267200" cy="666750"/>
            </a:xfrm>
            <a:prstGeom prst="roundRect">
              <a:avLst>
                <a:gd name="adj" fmla="val 5714"/>
              </a:avLst>
            </a:prstGeom>
            <a:solidFill>
              <a:srgbClr val="FFFFFF"/>
            </a:solidFill>
            <a:ln w="9525">
              <a:solidFill>
                <a:srgbClr val="526B80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307580" y="5454650"/>
              <a:ext cx="3508762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addBidFail</a:t>
              </a: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 → Caller (e.g. BID_TOO_LOW)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current price → All, isSuccessful = false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74" name="TextBox 74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5098256" cy="1000125"/>
            <a:chOff x="590550" y="609600"/>
            <a:chExt cx="5098256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2434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Phase 2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5098256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One line, every screen</a:t>
              </a:r>
            </a:p>
          </p:txBody>
        </p:sp>
      </p:grpSp>
      <p:grpSp>
        <p:nvGrpSpPr>
          <p:cNvPr id="17" name="geronimo-broadcast"/>
          <p:cNvGrpSpPr/>
          <p:nvPr/>
        </p:nvGrpSpPr>
        <p:grpSpPr>
          <a:xfrm>
            <a:off x="609600" y="1866900"/>
            <a:ext cx="3238500" cy="4305300"/>
            <a:chOff x="609600" y="1866900"/>
            <a:chExt cx="3238500" cy="4305300"/>
          </a:xfrm>
        </p:grpSpPr>
        <p:sp>
          <p:nvSpPr>
            <p:cNvPr id="5" name="Rectangle 5"/>
            <p:cNvSpPr/>
            <p:nvPr/>
          </p:nvSpPr>
          <p:spPr>
            <a:xfrm>
              <a:off x="609600" y="1866900"/>
              <a:ext cx="3238500" cy="4305300"/>
            </a:xfrm>
            <a:prstGeom prst="roundRect">
              <a:avLst>
                <a:gd name="adj" fmla="val 1176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92480" y="1962150"/>
              <a:ext cx="15973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Geronimo writes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92480" y="2241550"/>
              <a:ext cx="25948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Consolas"/>
                  <a:ea typeface="Consolas"/>
                  <a:cs typeface="Consolas"/>
                </a:rPr>
                <a:t>BroadcastBidUpdateAsync</a:t>
              </a:r>
            </a:p>
          </p:txBody>
        </p:sp>
        <p:grpSp>
          <p:nvGrpSpPr>
            <p:cNvPr id="14" name="Group 14"/>
            <p:cNvGrpSpPr/>
            <p:nvPr/>
          </p:nvGrpSpPr>
          <p:grpSpPr>
            <a:xfrm>
              <a:off x="792480" y="2717800"/>
              <a:ext cx="2820353" cy="2007870"/>
              <a:chOff x="792480" y="2717800"/>
              <a:chExt cx="2820353" cy="2007870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92480" y="2717800"/>
                <a:ext cx="24877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Clients.All.SendAsync(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982980" y="2984500"/>
                <a:ext cx="235696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"updateItem", 9 args)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792480" y="3441700"/>
                <a:ext cx="24877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Clients.All.SendAsync(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982980" y="3708400"/>
                <a:ext cx="246781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"updateEvent", 7 args)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792480" y="4165600"/>
                <a:ext cx="282035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Clients.Caller.SendAsync(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82980" y="4432300"/>
                <a:ext cx="214378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"addBidSuccess", …)</a:t>
                </a:r>
              </a:p>
            </p:txBody>
          </p:sp>
        </p:grpSp>
        <p:sp>
          <p:nvSpPr>
            <p:cNvPr id="15" name="Line 15"/>
            <p:cNvSpPr/>
            <p:nvPr/>
          </p:nvSpPr>
          <p:spPr>
            <a:xfrm>
              <a:off x="800100" y="4953000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2480" y="5092700"/>
              <a:ext cx="2595734" cy="8267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 xml:space="preserve">Winner = </a:t>
              </a:r>
              <a:r>
                <a:rPr lang="en" sz="15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HighBidUserId</a:t>
              </a:r>
              <a:br>
                <a:rPr lang="en" sz="1500" b="1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not the person who clicked: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a rival max bid can win at once</a:t>
              </a:r>
            </a:p>
          </p:txBody>
        </p:sp>
      </p:grpSp>
      <p:grpSp>
        <p:nvGrpSpPr>
          <p:cNvPr id="33" name="signalr-fanout"/>
          <p:cNvGrpSpPr/>
          <p:nvPr/>
        </p:nvGrpSpPr>
        <p:grpSpPr>
          <a:xfrm>
            <a:off x="3867150" y="1866900"/>
            <a:ext cx="3448050" cy="4305300"/>
            <a:chOff x="3867150" y="1866900"/>
            <a:chExt cx="3448050" cy="4305300"/>
          </a:xfrm>
        </p:grpSpPr>
        <p:sp>
          <p:nvSpPr>
            <p:cNvPr id="18" name="Line 18"/>
            <p:cNvSpPr/>
            <p:nvPr/>
          </p:nvSpPr>
          <p:spPr>
            <a:xfrm>
              <a:off x="3867150" y="2857500"/>
              <a:ext cx="400050" cy="1"/>
            </a:xfrm>
            <a:prstGeom prst="line">
              <a:avLst/>
            </a:prstGeom>
            <a:noFill/>
            <a:ln w="19050">
              <a:solidFill>
                <a:schemeClr val="accent2"/>
              </a:solidFill>
              <a:tailEnd type="triangle" w="lg" len="lg"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114800" y="1866900"/>
              <a:ext cx="3200400" cy="4305300"/>
            </a:xfrm>
            <a:prstGeom prst="roundRect">
              <a:avLst>
                <a:gd name="adj" fmla="val 1190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297680" y="196215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305300" y="2457450"/>
              <a:ext cx="2819400" cy="990600"/>
            </a:xfrm>
            <a:prstGeom prst="roundRect">
              <a:avLst>
                <a:gd name="adj" fmla="val 3846"/>
              </a:avLst>
            </a:prstGeom>
            <a:solidFill>
              <a:srgbClr val="FFFFFF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468368" y="2578100"/>
              <a:ext cx="223652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HubLifetimeManager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69130" y="2838450"/>
              <a:ext cx="1932527" cy="541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serialize once, write to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every open connection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5715000" y="3486150"/>
              <a:ext cx="1" cy="8382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prstDash val="dash"/>
              <a:tailEnd type="triangle" w="lg" len="lg"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305300" y="4381500"/>
              <a:ext cx="2819400" cy="876300"/>
            </a:xfrm>
            <a:prstGeom prst="roundRect">
              <a:avLst>
                <a:gd name="adj" fmla="val 4348"/>
              </a:avLst>
            </a:prstGeom>
            <a:solidFill>
              <a:srgbClr val="FFFFFF"/>
            </a:solidFill>
            <a:ln w="14288">
              <a:solidFill>
                <a:schemeClr val="accent3"/>
              </a:solidFill>
              <a:custDash>
                <a:ds d="400000" sp="266667"/>
              </a:custDash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4514850" y="4543425"/>
              <a:ext cx="152400" cy="171450"/>
              <a:chOff x="4514850" y="4543425"/>
              <a:chExt cx="152400" cy="17145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4514850" y="4543425"/>
                <a:ext cx="1524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57150">
                    <a:moveTo>
                      <a:pt x="0" y="28575"/>
                    </a:moveTo>
                    <a:cubicBezTo>
                      <a:pt x="0" y="44357"/>
                      <a:pt x="34116" y="57150"/>
                      <a:pt x="76200" y="57150"/>
                    </a:cubicBezTo>
                    <a:cubicBezTo>
                      <a:pt x="118284" y="57150"/>
                      <a:pt x="152400" y="44357"/>
                      <a:pt x="152400" y="28575"/>
                    </a:cubicBezTo>
                    <a:cubicBezTo>
                      <a:pt x="152400" y="12793"/>
                      <a:pt x="118284" y="0"/>
                      <a:pt x="76200" y="0"/>
                    </a:cubicBezTo>
                    <a:cubicBezTo>
                      <a:pt x="34116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4514850" y="457200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4514850" y="4629150"/>
                <a:ext cx="1524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85725">
                    <a:moveTo>
                      <a:pt x="0" y="0"/>
                    </a:moveTo>
                    <a:lnTo>
                      <a:pt x="0" y="57150"/>
                    </a:lnTo>
                    <a:cubicBezTo>
                      <a:pt x="0" y="72932"/>
                      <a:pt x="34116" y="85725"/>
                      <a:pt x="76200" y="85725"/>
                    </a:cubicBezTo>
                    <a:cubicBezTo>
                      <a:pt x="118284" y="85725"/>
                      <a:pt x="152400" y="72932"/>
                      <a:pt x="152400" y="57150"/>
                    </a:cubicBezTo>
                    <a:lnTo>
                      <a:pt x="152400" y="0"/>
                    </a:lnTo>
                  </a:path>
                </a:pathLst>
              </a:custGeom>
              <a:noFill/>
              <a:ln w="19050">
                <a:solidFill>
                  <a:schemeClr val="accent3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4773930" y="4514850"/>
              <a:ext cx="15558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Redis backplane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469130" y="4857750"/>
              <a:ext cx="26902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same message → other servers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297680" y="5549900"/>
              <a:ext cx="214672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Geronimo writes no loop,</a:t>
              </a:r>
              <a:b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socket list</a:t>
              </a:r>
            </a:p>
          </p:txBody>
        </p:sp>
      </p:grpSp>
      <p:grpSp>
        <p:nvGrpSpPr>
          <p:cNvPr id="37" name="edges"/>
          <p:cNvGrpSpPr/>
          <p:nvPr/>
        </p:nvGrpSpPr>
        <p:grpSpPr>
          <a:xfrm>
            <a:off x="7143750" y="2571750"/>
            <a:ext cx="438150" cy="2381250"/>
            <a:chOff x="7143750" y="2571750"/>
            <a:chExt cx="438150" cy="2381250"/>
          </a:xfrm>
        </p:grpSpPr>
        <p:sp>
          <p:nvSpPr>
            <p:cNvPr id="34" name="Line 34"/>
            <p:cNvSpPr/>
            <p:nvPr/>
          </p:nvSpPr>
          <p:spPr>
            <a:xfrm flipV="1">
              <a:off x="7143750" y="2571750"/>
              <a:ext cx="438150" cy="19050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sp>
          <p:nvSpPr>
            <p:cNvPr id="35" name="Line 35"/>
            <p:cNvSpPr/>
            <p:nvPr/>
          </p:nvSpPr>
          <p:spPr>
            <a:xfrm flipV="1">
              <a:off x="7143750" y="2857500"/>
              <a:ext cx="438150" cy="9525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sp>
          <p:nvSpPr>
            <p:cNvPr id="36" name="Line 36"/>
            <p:cNvSpPr/>
            <p:nvPr/>
          </p:nvSpPr>
          <p:spPr>
            <a:xfrm>
              <a:off x="7143750" y="3143250"/>
              <a:ext cx="438150" cy="1809750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</p:grpSp>
      <p:grpSp>
        <p:nvGrpSpPr>
          <p:cNvPr id="46" name="browser-anna"/>
          <p:cNvGrpSpPr/>
          <p:nvPr/>
        </p:nvGrpSpPr>
        <p:grpSpPr>
          <a:xfrm>
            <a:off x="7620000" y="1866900"/>
            <a:ext cx="3962400" cy="2038350"/>
            <a:chOff x="7620000" y="1866900"/>
            <a:chExt cx="3962400" cy="2038350"/>
          </a:xfrm>
        </p:grpSpPr>
        <p:sp>
          <p:nvSpPr>
            <p:cNvPr id="38" name="Rectangle 38"/>
            <p:cNvSpPr/>
            <p:nvPr/>
          </p:nvSpPr>
          <p:spPr>
            <a:xfrm>
              <a:off x="7620000" y="1866900"/>
              <a:ext cx="3962400" cy="2038350"/>
            </a:xfrm>
            <a:prstGeom prst="roundRect">
              <a:avLst>
                <a:gd name="adj" fmla="val 1869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802118" y="1968500"/>
              <a:ext cx="14364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Anna · bidder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393766" y="1981200"/>
              <a:ext cx="10057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All + Caller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7802880" y="2393950"/>
              <a:ext cx="3030874" cy="617220"/>
              <a:chOff x="7802880" y="2393950"/>
              <a:chExt cx="3030874" cy="617220"/>
            </a:xfrm>
          </p:grpSpPr>
          <p:sp>
            <p:nvSpPr>
              <p:cNvPr id="41" name="TextBox 41"/>
              <p:cNvSpPr txBox="1"/>
              <p:nvPr/>
            </p:nvSpPr>
            <p:spPr>
              <a:xfrm>
                <a:off x="7802880" y="2393950"/>
                <a:ext cx="268959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</a:rPr>
                  <a:t>on("updateItem") → price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02880" y="2717800"/>
                <a:ext cx="303087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2"/>
                    </a:solidFill>
                    <a:latin typeface="Consolas"/>
                    <a:ea typeface="Consolas"/>
                    <a:cs typeface="Consolas"/>
                  </a:rPr>
                  <a:t>on("addBidSuccess") → toast</a:t>
                </a:r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7802880" y="3105150"/>
              <a:ext cx="17278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“You’re winning!”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02880" y="3505200"/>
              <a:ext cx="31163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updateEvent → no handler, ignored</a:t>
              </a:r>
            </a:p>
          </p:txBody>
        </p:sp>
      </p:grpSp>
      <p:grpSp>
        <p:nvGrpSpPr>
          <p:cNvPr id="54" name="browser-ben"/>
          <p:cNvGrpSpPr/>
          <p:nvPr/>
        </p:nvGrpSpPr>
        <p:grpSpPr>
          <a:xfrm>
            <a:off x="7620000" y="4095750"/>
            <a:ext cx="3962400" cy="2076450"/>
            <a:chOff x="7620000" y="4095750"/>
            <a:chExt cx="3962400" cy="2076450"/>
          </a:xfrm>
        </p:grpSpPr>
        <p:sp>
          <p:nvSpPr>
            <p:cNvPr id="47" name="Rectangle 47"/>
            <p:cNvSpPr/>
            <p:nvPr/>
          </p:nvSpPr>
          <p:spPr>
            <a:xfrm>
              <a:off x="7620000" y="4095750"/>
              <a:ext cx="3962400" cy="2076450"/>
            </a:xfrm>
            <a:prstGeom prst="roundRect">
              <a:avLst>
                <a:gd name="adj" fmla="val 1835"/>
              </a:avLst>
            </a:prstGeom>
            <a:solidFill>
              <a:srgbClr val="FFFFFF"/>
            </a:solidFill>
            <a:ln w="14288">
              <a:solidFill>
                <a:schemeClr val="accent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802118" y="4197350"/>
              <a:ext cx="156285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Ben · watching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151917" y="4210050"/>
              <a:ext cx="2476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500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All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02880" y="4622800"/>
              <a:ext cx="28048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on("updateItem") → $1,300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02880" y="5010150"/>
              <a:ext cx="230391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“You have been outbid”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02880" y="5410200"/>
              <a:ext cx="31163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updateEvent → no handler, ignored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802880" y="5734050"/>
              <a:ext cx="16243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no addBidSuccess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5" name="TextBox 55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930059" cy="1000125"/>
            <a:chOff x="590550" y="609600"/>
            <a:chExt cx="6930059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46327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 · How does Geronimo sync a bid? · Server push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930059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No click needed: closing items</a:t>
              </a:r>
            </a:p>
          </p:txBody>
        </p:sp>
      </p:grpSp>
      <p:grpSp>
        <p:nvGrpSpPr>
          <p:cNvPr id="32" name="sources"/>
          <p:cNvGrpSpPr/>
          <p:nvPr/>
        </p:nvGrpSpPr>
        <p:grpSpPr>
          <a:xfrm>
            <a:off x="642938" y="2235200"/>
            <a:ext cx="4652962" cy="2909570"/>
            <a:chOff x="642938" y="2235200"/>
            <a:chExt cx="4652962" cy="2909570"/>
          </a:xfrm>
        </p:grpSpPr>
        <p:grpSp>
          <p:nvGrpSpPr>
            <p:cNvPr id="7" name="Group 7"/>
            <p:cNvGrpSpPr/>
            <p:nvPr/>
          </p:nvGrpSpPr>
          <p:grpSpPr>
            <a:xfrm>
              <a:off x="642938" y="2262188"/>
              <a:ext cx="200026" cy="200026"/>
              <a:chOff x="642938" y="2262188"/>
              <a:chExt cx="200026" cy="20002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642938" y="22621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742950" y="2306638"/>
                <a:ext cx="33338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88900">
                    <a:moveTo>
                      <a:pt x="0" y="0"/>
                    </a:moveTo>
                    <a:lnTo>
                      <a:pt x="0" y="55563"/>
                    </a:lnTo>
                    <a:lnTo>
                      <a:pt x="33338" y="8890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8" name="TextBox 8"/>
            <p:cNvSpPr txBox="1"/>
            <p:nvPr/>
          </p:nvSpPr>
          <p:spPr>
            <a:xfrm>
              <a:off x="982218" y="2235200"/>
              <a:ext cx="170980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Quartz close job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82980" y="2565400"/>
              <a:ext cx="26487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closeItems</a:t>
              </a: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· batch, sent first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642938" y="3394075"/>
              <a:ext cx="188913" cy="222254"/>
              <a:chOff x="642938" y="3394075"/>
              <a:chExt cx="188913" cy="22225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698500" y="3405188"/>
                <a:ext cx="33338" cy="111125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111125">
                    <a:moveTo>
                      <a:pt x="0" y="111125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100013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731838" y="3460750"/>
                <a:ext cx="33338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44450">
                    <a:moveTo>
                      <a:pt x="0" y="38894"/>
                    </a:moveTo>
                    <a:lnTo>
                      <a:pt x="0" y="16669"/>
                    </a:ln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4445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765175" y="3471863"/>
                <a:ext cx="33338" cy="33338"/>
              </a:xfrm>
              <a:custGeom>
                <a:avLst/>
                <a:gdLst/>
                <a:ahLst/>
                <a:cxnLst/>
                <a:rect l="l" t="t" r="r" b="b"/>
                <a:pathLst>
                  <a:path w="33338" h="33338">
                    <a:moveTo>
                      <a:pt x="0" y="16669"/>
                    </a:moveTo>
                    <a:cubicBezTo>
                      <a:pt x="0" y="7463"/>
                      <a:pt x="7463" y="0"/>
                      <a:pt x="16669" y="0"/>
                    </a:cubicBezTo>
                    <a:cubicBezTo>
                      <a:pt x="25875" y="0"/>
                      <a:pt x="33338" y="7463"/>
                      <a:pt x="33338" y="16669"/>
                    </a:cubicBezTo>
                    <a:lnTo>
                      <a:pt x="33338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646446" y="3482975"/>
                <a:ext cx="185405" cy="133354"/>
              </a:xfrm>
              <a:custGeom>
                <a:avLst/>
                <a:gdLst/>
                <a:ahLst/>
                <a:cxnLst/>
                <a:rect l="l" t="t" r="r" b="b"/>
                <a:pathLst>
                  <a:path w="185405" h="133354">
                    <a:moveTo>
                      <a:pt x="152067" y="16669"/>
                    </a:moveTo>
                    <a:cubicBezTo>
                      <a:pt x="152067" y="7463"/>
                      <a:pt x="159530" y="0"/>
                      <a:pt x="168736" y="0"/>
                    </a:cubicBezTo>
                    <a:cubicBezTo>
                      <a:pt x="177942" y="0"/>
                      <a:pt x="185405" y="7463"/>
                      <a:pt x="185405" y="16669"/>
                    </a:cubicBezTo>
                    <a:lnTo>
                      <a:pt x="185405" y="66675"/>
                    </a:lnTo>
                    <a:cubicBezTo>
                      <a:pt x="185405" y="103499"/>
                      <a:pt x="155553" y="133350"/>
                      <a:pt x="118730" y="133350"/>
                    </a:cubicBezTo>
                    <a:lnTo>
                      <a:pt x="96505" y="133350"/>
                    </a:lnTo>
                    <a:lnTo>
                      <a:pt x="98816" y="133350"/>
                    </a:lnTo>
                    <a:cubicBezTo>
                      <a:pt x="76386" y="133354"/>
                      <a:pt x="55457" y="122080"/>
                      <a:pt x="43120" y="103347"/>
                    </a:cubicBezTo>
                    <a:lnTo>
                      <a:pt x="40942" y="100013"/>
                    </a:lnTo>
                    <a:cubicBezTo>
                      <a:pt x="37475" y="94690"/>
                      <a:pt x="25307" y="73476"/>
                      <a:pt x="4426" y="36360"/>
                    </a:cubicBezTo>
                    <a:cubicBezTo>
                      <a:pt x="0" y="28493"/>
                      <a:pt x="2640" y="18532"/>
                      <a:pt x="10382" y="13891"/>
                    </a:cubicBezTo>
                    <a:cubicBezTo>
                      <a:pt x="18542" y="8995"/>
                      <a:pt x="28986" y="10277"/>
                      <a:pt x="35719" y="17002"/>
                    </a:cubicBezTo>
                    <a:lnTo>
                      <a:pt x="52054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654050" y="33940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11113" y="11113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642938" y="3449638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11113" y="0"/>
                    </a:moveTo>
                    <a:lnTo>
                      <a:pt x="0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765175" y="3394075"/>
                <a:ext cx="11113" cy="11113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11113">
                    <a:moveTo>
                      <a:pt x="0" y="11113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776288" y="3438525"/>
                <a:ext cx="111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3" h="9525">
                    <a:moveTo>
                      <a:pt x="0" y="0"/>
                    </a:moveTo>
                    <a:lnTo>
                      <a:pt x="11113" y="0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982218" y="3378200"/>
              <a:ext cx="9805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Buy Now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82980" y="3708400"/>
              <a:ext cx="22169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closeItem</a:t>
              </a: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· ItemService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642938" y="4559300"/>
              <a:ext cx="200026" cy="177800"/>
              <a:chOff x="642938" y="4559300"/>
              <a:chExt cx="200026" cy="1778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642938" y="4559300"/>
                <a:ext cx="200026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88900">
                    <a:moveTo>
                      <a:pt x="0" y="33338"/>
                    </a:moveTo>
                    <a:cubicBezTo>
                      <a:pt x="0" y="14926"/>
                      <a:pt x="14926" y="0"/>
                      <a:pt x="33338" y="0"/>
                    </a:cubicBezTo>
                    <a:lnTo>
                      <a:pt x="166688" y="0"/>
                    </a:lnTo>
                    <a:cubicBezTo>
                      <a:pt x="185100" y="0"/>
                      <a:pt x="200026" y="14926"/>
                      <a:pt x="200026" y="33338"/>
                    </a:cubicBezTo>
                    <a:lnTo>
                      <a:pt x="200026" y="55563"/>
                    </a:lnTo>
                    <a:cubicBezTo>
                      <a:pt x="200026" y="73975"/>
                      <a:pt x="185100" y="88900"/>
                      <a:pt x="166688" y="88900"/>
                    </a:cubicBezTo>
                    <a:lnTo>
                      <a:pt x="33338" y="88900"/>
                    </a:lnTo>
                    <a:cubicBezTo>
                      <a:pt x="14926" y="88900"/>
                      <a:pt x="0" y="73975"/>
                      <a:pt x="0" y="55563"/>
                    </a:cubicBezTo>
                    <a:lnTo>
                      <a:pt x="0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642938" y="4648200"/>
                <a:ext cx="200026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88900">
                    <a:moveTo>
                      <a:pt x="0" y="33338"/>
                    </a:moveTo>
                    <a:cubicBezTo>
                      <a:pt x="0" y="14926"/>
                      <a:pt x="14926" y="0"/>
                      <a:pt x="33338" y="0"/>
                    </a:cubicBezTo>
                    <a:lnTo>
                      <a:pt x="166688" y="0"/>
                    </a:lnTo>
                    <a:cubicBezTo>
                      <a:pt x="185100" y="0"/>
                      <a:pt x="200026" y="14926"/>
                      <a:pt x="200026" y="33338"/>
                    </a:cubicBezTo>
                    <a:lnTo>
                      <a:pt x="200026" y="55563"/>
                    </a:lnTo>
                    <a:cubicBezTo>
                      <a:pt x="200026" y="73975"/>
                      <a:pt x="185100" y="88900"/>
                      <a:pt x="166688" y="88900"/>
                    </a:cubicBezTo>
                    <a:lnTo>
                      <a:pt x="33338" y="88900"/>
                    </a:lnTo>
                    <a:cubicBezTo>
                      <a:pt x="14926" y="88900"/>
                      <a:pt x="0" y="73975"/>
                      <a:pt x="0" y="55563"/>
                    </a:cubicBezTo>
                    <a:lnTo>
                      <a:pt x="0" y="33338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87388" y="4603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87388" y="46926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22225">
                <a:solidFill>
                  <a:schemeClr val="accent2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982218" y="4521200"/>
              <a:ext cx="128527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Event closes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2980" y="4851400"/>
              <a:ext cx="29363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closeEvent</a:t>
              </a:r>
              <a:r>
                <a:rPr lang="e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· EventOrderService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3810000" y="2590800"/>
              <a:ext cx="1485900" cy="2286000"/>
              <a:chOff x="3810000" y="2590800"/>
              <a:chExt cx="1485900" cy="2286000"/>
            </a:xfrm>
          </p:grpSpPr>
          <p:sp>
            <p:nvSpPr>
              <p:cNvPr id="28" name="Line 28"/>
              <p:cNvSpPr/>
              <p:nvPr/>
            </p:nvSpPr>
            <p:spPr>
              <a:xfrm>
                <a:off x="3810000" y="2590800"/>
                <a:ext cx="1485900" cy="990600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tailEnd type="triangle" w="lg" len="lg"/>
              </a:ln>
            </p:spPr>
          </p:sp>
          <p:sp>
            <p:nvSpPr>
              <p:cNvPr id="29" name="Line 29"/>
              <p:cNvSpPr/>
              <p:nvPr/>
            </p:nvSpPr>
            <p:spPr>
              <a:xfrm>
                <a:off x="3810000" y="3733800"/>
                <a:ext cx="1485900" cy="1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tailEnd type="triangle" w="lg" len="lg"/>
              </a:ln>
            </p:spPr>
          </p:sp>
          <p:sp>
            <p:nvSpPr>
              <p:cNvPr id="30" name="Line 30"/>
              <p:cNvSpPr/>
              <p:nvPr/>
            </p:nvSpPr>
            <p:spPr>
              <a:xfrm flipV="1">
                <a:off x="3810000" y="3886200"/>
                <a:ext cx="1485900" cy="990600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tailEnd type="triangle" w="lg" len="lg"/>
              </a:ln>
            </p:spPr>
          </p:sp>
        </p:grpSp>
      </p:grpSp>
      <p:grpSp>
        <p:nvGrpSpPr>
          <p:cNvPr id="36" name="hub-context"/>
          <p:cNvGrpSpPr/>
          <p:nvPr/>
        </p:nvGrpSpPr>
        <p:grpSpPr>
          <a:xfrm>
            <a:off x="5334000" y="3238500"/>
            <a:ext cx="2857500" cy="990600"/>
            <a:chOff x="5334000" y="3238500"/>
            <a:chExt cx="2857500" cy="990600"/>
          </a:xfrm>
        </p:grpSpPr>
        <p:sp>
          <p:nvSpPr>
            <p:cNvPr id="33" name="Rectangle 33"/>
            <p:cNvSpPr/>
            <p:nvPr/>
          </p:nvSpPr>
          <p:spPr>
            <a:xfrm>
              <a:off x="5334000" y="3238500"/>
              <a:ext cx="2857500" cy="990600"/>
            </a:xfrm>
            <a:prstGeom prst="roundRect">
              <a:avLst>
                <a:gd name="adj" fmla="val 3846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516118" y="3416300"/>
              <a:ext cx="262050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chemeClr val="accent2"/>
                  </a:solidFill>
                  <a:latin typeface="Consolas"/>
                  <a:ea typeface="Consolas"/>
                  <a:cs typeface="Consolas"/>
                </a:rPr>
                <a:t>IHubContext&lt;EventHub&gt;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516880" y="3771900"/>
              <a:ext cx="241717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push from outside any hub</a:t>
              </a:r>
            </a:p>
          </p:txBody>
        </p:sp>
      </p:grpSp>
      <p:grpSp>
        <p:nvGrpSpPr>
          <p:cNvPr id="47" name="signalr-all"/>
          <p:cNvGrpSpPr/>
          <p:nvPr/>
        </p:nvGrpSpPr>
        <p:grpSpPr>
          <a:xfrm>
            <a:off x="8210550" y="3352800"/>
            <a:ext cx="3225775" cy="998220"/>
            <a:chOff x="8210550" y="3352800"/>
            <a:chExt cx="3225775" cy="998220"/>
          </a:xfrm>
        </p:grpSpPr>
        <p:sp>
          <p:nvSpPr>
            <p:cNvPr id="37" name="Line 37"/>
            <p:cNvSpPr/>
            <p:nvPr/>
          </p:nvSpPr>
          <p:spPr>
            <a:xfrm>
              <a:off x="8210550" y="3733800"/>
              <a:ext cx="47625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724900" y="3352800"/>
              <a:ext cx="1409700" cy="762000"/>
            </a:xfrm>
            <a:prstGeom prst="roundRect">
              <a:avLst>
                <a:gd name="adj" fmla="val 5000"/>
              </a:avLst>
            </a:prstGeom>
            <a:solidFill>
              <a:srgbClr val="F1EBFD"/>
            </a:solidFill>
            <a:ln w="14288">
              <a:solidFill>
                <a:schemeClr val="accent3"/>
              </a:solidFill>
              <a:custDash>
                <a:ds d="466667" sp="333333"/>
              </a:custDash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58533" y="3467100"/>
              <a:ext cx="7424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SignalR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804377" y="3746500"/>
              <a:ext cx="125074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" sz="1500" dirty="0">
                  <a:solidFill>
                    <a:schemeClr val="accent3"/>
                  </a:solidFill>
                  <a:latin typeface="Consolas"/>
                  <a:ea typeface="Consolas"/>
                  <a:cs typeface="Consolas"/>
                </a:rPr>
                <a:t>Clients.All</a:t>
              </a:r>
            </a:p>
          </p:txBody>
        </p:sp>
        <p:sp>
          <p:nvSpPr>
            <p:cNvPr id="41" name="Line 41"/>
            <p:cNvSpPr/>
            <p:nvPr/>
          </p:nvSpPr>
          <p:spPr>
            <a:xfrm>
              <a:off x="10153650" y="3733800"/>
              <a:ext cx="285750" cy="1"/>
            </a:xfrm>
            <a:prstGeom prst="line">
              <a:avLst/>
            </a:prstGeom>
            <a:noFill/>
            <a:ln w="19050">
              <a:solidFill>
                <a:schemeClr val="accent3"/>
              </a:solidFill>
              <a:tailEnd type="triangle" w="lg" len="lg"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10560050" y="3416300"/>
              <a:ext cx="254001" cy="254001"/>
              <a:chOff x="10560050" y="3416300"/>
              <a:chExt cx="254001" cy="254001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0560050" y="3479800"/>
                <a:ext cx="25400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9525">
                    <a:moveTo>
                      <a:pt x="0" y="0"/>
                    </a:moveTo>
                    <a:lnTo>
                      <a:pt x="254001" y="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10560050" y="3416300"/>
                <a:ext cx="254001" cy="254001"/>
              </a:xfrm>
              <a:custGeom>
                <a:avLst/>
                <a:gdLst/>
                <a:ahLst/>
                <a:cxnLst/>
                <a:rect l="l" t="t" r="r" b="b"/>
                <a:pathLst>
                  <a:path w="254001" h="254001">
                    <a:moveTo>
                      <a:pt x="0" y="31750"/>
                    </a:moveTo>
                    <a:cubicBezTo>
                      <a:pt x="0" y="14215"/>
                      <a:pt x="14215" y="0"/>
                      <a:pt x="31750" y="0"/>
                    </a:cubicBezTo>
                    <a:lnTo>
                      <a:pt x="222250" y="0"/>
                    </a:lnTo>
                    <a:cubicBezTo>
                      <a:pt x="239786" y="0"/>
                      <a:pt x="254001" y="14215"/>
                      <a:pt x="254001" y="31750"/>
                    </a:cubicBezTo>
                    <a:lnTo>
                      <a:pt x="254001" y="222250"/>
                    </a:lnTo>
                    <a:cubicBezTo>
                      <a:pt x="254001" y="239786"/>
                      <a:pt x="239786" y="254001"/>
                      <a:pt x="222250" y="254001"/>
                    </a:cubicBezTo>
                    <a:lnTo>
                      <a:pt x="31750" y="254001"/>
                    </a:lnTo>
                    <a:cubicBezTo>
                      <a:pt x="14215" y="254001"/>
                      <a:pt x="0" y="239786"/>
                      <a:pt x="0" y="222250"/>
                    </a:cubicBezTo>
                    <a:lnTo>
                      <a:pt x="0" y="3175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10623550" y="3416300"/>
                <a:ext cx="9525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63500">
                    <a:moveTo>
                      <a:pt x="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chemeClr val="accent2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10488930" y="3810000"/>
              <a:ext cx="947395" cy="541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0"/>
                </a:lnSpc>
              </a:pP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every open</a:t>
              </a:r>
              <a:b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e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page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601218" y="5600700"/>
            <a:ext cx="10981182" cy="481457"/>
            <a:chOff x="601218" y="5600700"/>
            <a:chExt cx="10981182" cy="481457"/>
          </a:xfrm>
        </p:grpSpPr>
        <p:sp>
          <p:nvSpPr>
            <p:cNvPr id="48" name="Line 48"/>
            <p:cNvSpPr/>
            <p:nvPr/>
          </p:nvSpPr>
          <p:spPr>
            <a:xfrm>
              <a:off x="609600" y="5600700"/>
              <a:ext cx="10972800" cy="9525"/>
            </a:xfrm>
            <a:custGeom>
              <a:avLst/>
              <a:gdLst/>
              <a:ahLst/>
              <a:cxnLst/>
              <a:rect l="l" t="t" r="r" b="b"/>
              <a:pathLst>
                <a:path w="10972800" h="9525">
                  <a:moveTo>
                    <a:pt x="0" y="0"/>
                  </a:moveTo>
                  <a:lnTo>
                    <a:pt x="109728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01218" y="5759450"/>
              <a:ext cx="6406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Same plumbing as a bid — triggered by the server, not by a click.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1" name="TextBox 51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10456163" cy="1000125"/>
            <a:chOff x="590550" y="609600"/>
            <a:chExt cx="10456163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2228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 · What should we fix?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10456163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Two holes: who bids, and what everyone sees</a:t>
              </a:r>
            </a:p>
          </p:txBody>
        </p:sp>
      </p:grpSp>
      <p:grpSp>
        <p:nvGrpSpPr>
          <p:cNvPr id="30" name="hole-identity"/>
          <p:cNvGrpSpPr/>
          <p:nvPr/>
        </p:nvGrpSpPr>
        <p:grpSpPr>
          <a:xfrm>
            <a:off x="595122" y="1809750"/>
            <a:ext cx="5272278" cy="4248150"/>
            <a:chOff x="595122" y="1809750"/>
            <a:chExt cx="5272278" cy="4248150"/>
          </a:xfrm>
        </p:grpSpPr>
        <p:grpSp>
          <p:nvGrpSpPr>
            <p:cNvPr id="8" name="Group 8"/>
            <p:cNvGrpSpPr/>
            <p:nvPr/>
          </p:nvGrpSpPr>
          <p:grpSpPr>
            <a:xfrm>
              <a:off x="627839" y="1835161"/>
              <a:ext cx="192114" cy="165051"/>
              <a:chOff x="627839" y="1835161"/>
              <a:chExt cx="192114" cy="165051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723900" y="1895475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  <p:sp>
            <p:nvSpPr>
              <p:cNvPr id="6" name="Freeform 6"/>
              <p:cNvSpPr/>
              <p:nvPr/>
            </p:nvSpPr>
            <p:spPr>
              <a:xfrm>
                <a:off x="627839" y="1835161"/>
                <a:ext cx="192114" cy="165051"/>
              </a:xfrm>
              <a:custGeom>
                <a:avLst/>
                <a:gdLst/>
                <a:ahLst/>
                <a:cxnLst/>
                <a:rect l="l" t="t" r="r" b="b"/>
                <a:pathLst>
                  <a:path w="192114" h="165051">
                    <a:moveTo>
                      <a:pt x="80468" y="8794"/>
                    </a:moveTo>
                    <a:lnTo>
                      <a:pt x="3259" y="137705"/>
                    </a:lnTo>
                    <a:cubicBezTo>
                      <a:pt x="20" y="143314"/>
                      <a:pt x="0" y="150220"/>
                      <a:pt x="3207" y="155848"/>
                    </a:cubicBezTo>
                    <a:cubicBezTo>
                      <a:pt x="6413" y="161475"/>
                      <a:pt x="12365" y="164979"/>
                      <a:pt x="18842" y="165051"/>
                    </a:cubicBezTo>
                    <a:lnTo>
                      <a:pt x="173280" y="165051"/>
                    </a:lnTo>
                    <a:cubicBezTo>
                      <a:pt x="179753" y="164977"/>
                      <a:pt x="185702" y="161474"/>
                      <a:pt x="188908" y="155850"/>
                    </a:cubicBezTo>
                    <a:cubicBezTo>
                      <a:pt x="192114" y="150226"/>
                      <a:pt x="192097" y="143323"/>
                      <a:pt x="188863" y="137715"/>
                    </a:cubicBezTo>
                    <a:lnTo>
                      <a:pt x="111653" y="8784"/>
                    </a:lnTo>
                    <a:cubicBezTo>
                      <a:pt x="108349" y="3331"/>
                      <a:pt x="102437" y="0"/>
                      <a:pt x="96061" y="0"/>
                    </a:cubicBezTo>
                    <a:cubicBezTo>
                      <a:pt x="89685" y="0"/>
                      <a:pt x="83772" y="3331"/>
                      <a:pt x="80468" y="8784"/>
                    </a:cubicBez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  <p:sp>
            <p:nvSpPr>
              <p:cNvPr id="7" name="Freeform 7"/>
              <p:cNvSpPr/>
              <p:nvPr/>
            </p:nvSpPr>
            <p:spPr>
              <a:xfrm>
                <a:off x="723900" y="1962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95" y="0"/>
                    </a:ln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</p:grpSp>
        <p:sp>
          <p:nvSpPr>
            <p:cNvPr id="9" name="TextBox 9"/>
            <p:cNvSpPr txBox="1"/>
            <p:nvPr/>
          </p:nvSpPr>
          <p:spPr>
            <a:xfrm>
              <a:off x="906780" y="1809750"/>
              <a:ext cx="1753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Hole 1 · who bids?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5122" y="2063750"/>
              <a:ext cx="415150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Client-supplied identity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609600" y="2609850"/>
              <a:ext cx="5257800" cy="990600"/>
            </a:xfrm>
            <a:prstGeom prst="roundRect">
              <a:avLst>
                <a:gd name="adj" fmla="val 3846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85812" y="2717800"/>
              <a:ext cx="142875" cy="127000"/>
              <a:chOff x="785812" y="2717800"/>
              <a:chExt cx="142875" cy="127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25500" y="2757487"/>
                <a:ext cx="23812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47625">
                    <a:moveTo>
                      <a:pt x="0" y="0"/>
                    </a:moveTo>
                    <a:lnTo>
                      <a:pt x="23812" y="23812"/>
                    </a:lnTo>
                    <a:lnTo>
                      <a:pt x="0" y="47625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65187" y="2805112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785812" y="2717800"/>
                <a:ext cx="142875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00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127000" y="0"/>
                    </a:lnTo>
                    <a:cubicBezTo>
                      <a:pt x="135767" y="0"/>
                      <a:pt x="142875" y="7107"/>
                      <a:pt x="142875" y="15875"/>
                    </a:cubicBezTo>
                    <a:lnTo>
                      <a:pt x="142875" y="111125"/>
                    </a:lnTo>
                    <a:cubicBezTo>
                      <a:pt x="142875" y="119892"/>
                      <a:pt x="135767" y="127000"/>
                      <a:pt x="127000" y="127000"/>
                    </a:cubicBezTo>
                    <a:lnTo>
                      <a:pt x="15875" y="127000"/>
                    </a:lnTo>
                    <a:cubicBezTo>
                      <a:pt x="7107" y="127000"/>
                      <a:pt x="0" y="119892"/>
                      <a:pt x="0" y="11112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22604" y="2686050"/>
              <a:ext cx="13806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rgbClr val="E8F4F8"/>
                  </a:solidFill>
                  <a:latin typeface="+mn-lt"/>
                  <a:ea typeface="+mn-ea"/>
                  <a:cs typeface="+mn-cs"/>
                </a:rPr>
                <a:t>DevTools · Console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754380" y="3003550"/>
              <a:ext cx="3922395" cy="560070"/>
              <a:chOff x="754380" y="3003550"/>
              <a:chExt cx="3922395" cy="560070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754380" y="3003550"/>
                <a:ext cx="392239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&gt; connection.invoke("AddBid", 1042,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54380" y="3270250"/>
                <a:ext cx="379133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b="1" dirty="0">
                    <a:solidFill>
                      <a:srgbClr val="F6C177"/>
                    </a:solidFill>
                    <a:latin typeface="Consolas"/>
                    <a:ea typeface="Consolas"/>
                    <a:cs typeface="Consolas"/>
                  </a:rPr>
                  <a:t>"&lt;victim id&gt;"</a:t>
                </a:r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, 1300, false, false)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601218" y="3721100"/>
              <a:ext cx="391306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→ a bid saved in someone else’s name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601980" y="4127500"/>
              <a:ext cx="3841220" cy="852170"/>
              <a:chOff x="601980" y="4127500"/>
              <a:chExt cx="3841220" cy="852170"/>
            </a:xfrm>
          </p:grpSpPr>
          <p:sp>
            <p:nvSpPr>
              <p:cNvPr id="21" name="TextBox 21"/>
              <p:cNvSpPr txBox="1"/>
              <p:nvPr/>
            </p:nvSpPr>
            <p:spPr>
              <a:xfrm>
                <a:off x="601980" y="4127500"/>
                <a:ext cx="342774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bidderId</a:t>
                </a: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 comes from a hidden field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01980" y="4413250"/>
                <a:ext cx="269613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no </a:t>
                </a:r>
                <a:r>
                  <a:rPr lang="en" sz="15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[Authorize]</a:t>
                </a: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 on the hub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01980" y="4686300"/>
                <a:ext cx="384122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user ids already ride on every updateItem</a:t>
                </a:r>
              </a:p>
            </p:txBody>
          </p:sp>
        </p:grpSp>
        <p:sp>
          <p:nvSpPr>
            <p:cNvPr id="25" name="Rectangle 25"/>
            <p:cNvSpPr/>
            <p:nvPr/>
          </p:nvSpPr>
          <p:spPr>
            <a:xfrm>
              <a:off x="609600" y="5143500"/>
              <a:ext cx="52578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92480" y="5257800"/>
              <a:ext cx="2943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Fix</a:t>
              </a: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1325880" y="5270500"/>
              <a:ext cx="3708884" cy="598170"/>
              <a:chOff x="1325880" y="5270500"/>
              <a:chExt cx="3708884" cy="59817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1325880" y="5270500"/>
                <a:ext cx="23708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[Authorize] on AddBid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325880" y="5575300"/>
                <a:ext cx="3708884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bidderId = Context.UserIdentifier</a:t>
                </a:r>
              </a:p>
            </p:txBody>
          </p:sp>
        </p:grpSp>
      </p:grpSp>
      <p:sp>
        <p:nvSpPr>
          <p:cNvPr id="31" name="Line 31"/>
          <p:cNvSpPr/>
          <p:nvPr/>
        </p:nvSpPr>
        <p:spPr>
          <a:xfrm>
            <a:off x="6096000" y="1809750"/>
            <a:ext cx="9525" cy="4248150"/>
          </a:xfrm>
          <a:custGeom>
            <a:avLst/>
            <a:gdLst/>
            <a:ahLst/>
            <a:cxnLst/>
            <a:rect l="l" t="t" r="r" b="b"/>
            <a:pathLst>
              <a:path w="9525" h="4248150">
                <a:moveTo>
                  <a:pt x="0" y="0"/>
                </a:moveTo>
                <a:lnTo>
                  <a:pt x="0" y="424815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6" name="hole-maxbid"/>
          <p:cNvGrpSpPr/>
          <p:nvPr/>
        </p:nvGrpSpPr>
        <p:grpSpPr>
          <a:xfrm>
            <a:off x="6310122" y="1809750"/>
            <a:ext cx="5272278" cy="4248150"/>
            <a:chOff x="6310122" y="1809750"/>
            <a:chExt cx="5272278" cy="4248150"/>
          </a:xfrm>
        </p:grpSpPr>
        <p:grpSp>
          <p:nvGrpSpPr>
            <p:cNvPr id="34" name="Group 34"/>
            <p:cNvGrpSpPr/>
            <p:nvPr/>
          </p:nvGrpSpPr>
          <p:grpSpPr>
            <a:xfrm>
              <a:off x="6353175" y="1866900"/>
              <a:ext cx="171450" cy="114300"/>
              <a:chOff x="6353175" y="1866900"/>
              <a:chExt cx="171450" cy="1143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6419850" y="190500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353175" y="186690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B36A13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6621780" y="1809750"/>
              <a:ext cx="265468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Hole 2 · what everyone sees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10122" y="2063750"/>
              <a:ext cx="377310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Max bid in plain sight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24600" y="2609850"/>
              <a:ext cx="5257800" cy="990600"/>
            </a:xfrm>
            <a:prstGeom prst="roundRect">
              <a:avLst>
                <a:gd name="adj" fmla="val 3846"/>
              </a:avLst>
            </a:prstGeom>
            <a:solidFill>
              <a:schemeClr val="accent1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6508750" y="2717800"/>
              <a:ext cx="127000" cy="127000"/>
              <a:chOff x="6508750" y="2717800"/>
              <a:chExt cx="127000" cy="1270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508750" y="2749550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508750" y="271780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15875"/>
                    </a:moveTo>
                    <a:cubicBezTo>
                      <a:pt x="0" y="7107"/>
                      <a:pt x="7107" y="0"/>
                      <a:pt x="15875" y="0"/>
                    </a:cubicBezTo>
                    <a:lnTo>
                      <a:pt x="111125" y="0"/>
                    </a:lnTo>
                    <a:cubicBezTo>
                      <a:pt x="119892" y="0"/>
                      <a:pt x="127000" y="7107"/>
                      <a:pt x="127000" y="15875"/>
                    </a:cubicBezTo>
                    <a:lnTo>
                      <a:pt x="127000" y="111125"/>
                    </a:lnTo>
                    <a:cubicBezTo>
                      <a:pt x="127000" y="119892"/>
                      <a:pt x="119892" y="127000"/>
                      <a:pt x="111125" y="127000"/>
                    </a:cubicBezTo>
                    <a:lnTo>
                      <a:pt x="15875" y="127000"/>
                    </a:lnTo>
                    <a:cubicBezTo>
                      <a:pt x="7107" y="127000"/>
                      <a:pt x="0" y="119892"/>
                      <a:pt x="0" y="111125"/>
                    </a:cubicBezTo>
                    <a:lnTo>
                      <a:pt x="0" y="15875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540500" y="2717800"/>
                <a:ext cx="95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750">
                    <a:moveTo>
                      <a:pt x="0" y="0"/>
                    </a:moveTo>
                    <a:lnTo>
                      <a:pt x="0" y="31750"/>
                    </a:lnTo>
                  </a:path>
                </a:pathLst>
              </a:custGeom>
              <a:noFill/>
              <a:ln w="15875">
                <a:solidFill>
                  <a:srgbClr val="E8F4F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6737604" y="2686050"/>
              <a:ext cx="17897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rgbClr val="E8F4F8"/>
                  </a:solidFill>
                  <a:latin typeface="+mn-lt"/>
                  <a:ea typeface="+mn-ea"/>
                  <a:cs typeface="+mn-cs"/>
                </a:rPr>
                <a:t>DevTools · Network · WS</a:t>
              </a:r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6469380" y="3003550"/>
              <a:ext cx="3701015" cy="560070"/>
              <a:chOff x="6469380" y="3003550"/>
              <a:chExt cx="3701015" cy="560070"/>
            </a:xfrm>
          </p:grpSpPr>
          <p:sp>
            <p:nvSpPr>
              <p:cNvPr id="43" name="TextBox 43"/>
              <p:cNvSpPr txBox="1"/>
              <p:nvPr/>
            </p:nvSpPr>
            <p:spPr>
              <a:xfrm>
                <a:off x="6469380" y="3003550"/>
                <a:ext cx="370101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↓ updateItem(1042, 1300, 1350, 8,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469380" y="3270250"/>
                <a:ext cx="256965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 xml:space="preserve">…, "u-ben", true, </a:t>
                </a:r>
                <a:r>
                  <a:rPr lang="en" sz="1500" b="1" dirty="0">
                    <a:solidFill>
                      <a:srgbClr val="F6C177"/>
                    </a:solidFill>
                    <a:latin typeface="Consolas"/>
                    <a:ea typeface="Consolas"/>
                    <a:cs typeface="Consolas"/>
                  </a:rPr>
                  <a:t>2000</a:t>
                </a:r>
                <a:r>
                  <a:rPr lang="en" sz="1500" dirty="0">
                    <a:solidFill>
                      <a:srgbClr val="E8F4F8"/>
                    </a:solidFill>
                    <a:latin typeface="Consolas"/>
                    <a:ea typeface="Consolas"/>
                    <a:cs typeface="Consolas"/>
                  </a:rPr>
                  <a:t>)</a:t>
                </a:r>
              </a:p>
            </p:txBody>
          </p:sp>
        </p:grpSp>
        <p:sp>
          <p:nvSpPr>
            <p:cNvPr id="46" name="TextBox 46"/>
            <p:cNvSpPr txBox="1"/>
            <p:nvPr/>
          </p:nvSpPr>
          <p:spPr>
            <a:xfrm>
              <a:off x="6316218" y="3721100"/>
              <a:ext cx="345019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b="1" dirty="0">
                  <a:solidFill>
                    <a:srgbClr val="B36A13"/>
                  </a:solidFill>
                  <a:latin typeface="+mn-lt"/>
                  <a:ea typeface="+mn-ea"/>
                  <a:cs typeface="+mn-cs"/>
                </a:rPr>
                <a:t>→ every rival reads Ben’s max bid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6316980" y="4127500"/>
              <a:ext cx="3540046" cy="852170"/>
              <a:chOff x="6316980" y="4127500"/>
              <a:chExt cx="3540046" cy="852170"/>
            </a:xfrm>
          </p:grpSpPr>
          <p:sp>
            <p:nvSpPr>
              <p:cNvPr id="47" name="TextBox 47"/>
              <p:cNvSpPr txBox="1"/>
              <p:nvPr/>
            </p:nvSpPr>
            <p:spPr>
              <a:xfrm>
                <a:off x="6316980" y="4127500"/>
                <a:ext cx="29295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Consolas"/>
                    <a:ea typeface="Consolas"/>
                    <a:cs typeface="Consolas"/>
                  </a:rPr>
                  <a:t>highMaxBid</a:t>
                </a: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 xml:space="preserve"> goes to Clients.All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316980" y="4400550"/>
                <a:ext cx="3540046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the page only uses it to hide Buy Now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316980" y="4686300"/>
                <a:ext cx="2865737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 marL="129559" indent="-129559">
                  <a:buClr>
                    <a:schemeClr val="dk1"/>
                  </a:buClr>
                  <a:buSzTx/>
                  <a:buFontTx/>
                  <a:buChar char="•"/>
                </a:pPr>
                <a:r>
                  <a:rPr lang="en" sz="15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anything in Clients.All is public</a:t>
                </a:r>
              </a:p>
            </p:txBody>
          </p:sp>
        </p:grpSp>
        <p:sp>
          <p:nvSpPr>
            <p:cNvPr id="51" name="Rectangle 51"/>
            <p:cNvSpPr/>
            <p:nvPr/>
          </p:nvSpPr>
          <p:spPr>
            <a:xfrm>
              <a:off x="6324600" y="5143500"/>
              <a:ext cx="5257800" cy="914400"/>
            </a:xfrm>
            <a:prstGeom prst="roundRect">
              <a:avLst>
                <a:gd name="adj" fmla="val 4167"/>
              </a:avLst>
            </a:prstGeom>
            <a:solidFill>
              <a:schemeClr val="lt2"/>
            </a:solidFill>
            <a:ln w="19050">
              <a:solidFill>
                <a:schemeClr val="accent2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07480" y="5257800"/>
              <a:ext cx="2943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Fix</a:t>
              </a:r>
            </a:p>
          </p:txBody>
        </p:sp>
        <p:grpSp>
          <p:nvGrpSpPr>
            <p:cNvPr id="55" name="Group 55"/>
            <p:cNvGrpSpPr/>
            <p:nvPr/>
          </p:nvGrpSpPr>
          <p:grpSpPr>
            <a:xfrm>
              <a:off x="7040880" y="5270500"/>
              <a:ext cx="2478351" cy="598170"/>
              <a:chOff x="7040880" y="5270500"/>
              <a:chExt cx="2478351" cy="598170"/>
            </a:xfrm>
          </p:grpSpPr>
          <p:sp>
            <p:nvSpPr>
              <p:cNvPr id="53" name="TextBox 53"/>
              <p:cNvSpPr txBox="1"/>
              <p:nvPr/>
            </p:nvSpPr>
            <p:spPr>
              <a:xfrm>
                <a:off x="7040880" y="5270500"/>
                <a:ext cx="247835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send isBuyNowAvailable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040880" y="5575300"/>
                <a:ext cx="1570101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1500" dirty="0">
                    <a:solidFill>
                      <a:schemeClr val="accent1"/>
                    </a:solidFill>
                    <a:latin typeface="Consolas"/>
                    <a:ea typeface="Consolas"/>
                    <a:cs typeface="Consolas"/>
                  </a:rPr>
                  <a:t>not the amount</a:t>
                </a:r>
              </a:p>
            </p:txBody>
          </p:sp>
        </p:grpSp>
      </p:grpSp>
      <p:grpSp>
        <p:nvGrpSpPr>
          <p:cNvPr id="59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57" name="TextBox 57"/>
            <p:cNvSpPr txBox="1"/>
            <p:nvPr/>
          </p:nvSpPr>
          <p:spPr>
            <a:xfrm>
              <a:off x="603504" y="6362700"/>
              <a:ext cx="577396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 · inferred from code, not tested on production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er"/>
          <p:cNvGrpSpPr/>
          <p:nvPr/>
        </p:nvGrpSpPr>
        <p:grpSpPr>
          <a:xfrm>
            <a:off x="590550" y="609600"/>
            <a:ext cx="6717988" cy="1000125"/>
            <a:chOff x="590550" y="609600"/>
            <a:chExt cx="6717988" cy="1000125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609600"/>
              <a:ext cx="22281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 · What should we fix?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0550" y="876300"/>
              <a:ext cx="6717988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Seven habits for the next hub</a:t>
              </a:r>
            </a:p>
          </p:txBody>
        </p:sp>
      </p:grpSp>
      <p:grpSp>
        <p:nvGrpSpPr>
          <p:cNvPr id="23" name="do-list"/>
          <p:cNvGrpSpPr/>
          <p:nvPr/>
        </p:nvGrpSpPr>
        <p:grpSpPr>
          <a:xfrm>
            <a:off x="595122" y="1797050"/>
            <a:ext cx="6720078" cy="4227068"/>
            <a:chOff x="595122" y="1797050"/>
            <a:chExt cx="6720078" cy="4227068"/>
          </a:xfrm>
        </p:grpSpPr>
        <p:sp>
          <p:nvSpPr>
            <p:cNvPr id="5" name="TextBox 5"/>
            <p:cNvSpPr txBox="1"/>
            <p:nvPr/>
          </p:nvSpPr>
          <p:spPr>
            <a:xfrm>
              <a:off x="595122" y="1797050"/>
              <a:ext cx="56412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chemeClr val="accent2"/>
                  </a:solidFill>
                  <a:latin typeface="+mj-lt"/>
                  <a:ea typeface="+mj-ea"/>
                  <a:cs typeface="+mj-cs"/>
                </a:rPr>
                <a:t>Do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609600" y="2324100"/>
              <a:ext cx="6705600" cy="9525"/>
            </a:xfrm>
            <a:custGeom>
              <a:avLst/>
              <a:gdLst/>
              <a:ahLst/>
              <a:cxnLst/>
              <a:rect l="l" t="t" r="r" b="b"/>
              <a:pathLst>
                <a:path w="6705600" h="9525">
                  <a:moveTo>
                    <a:pt x="0" y="0"/>
                  </a:moveTo>
                  <a:lnTo>
                    <a:pt x="6705600" y="0"/>
                  </a:lnTo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598932" y="2527300"/>
              <a:ext cx="318173" cy="3496818"/>
              <a:chOff x="598932" y="2527300"/>
              <a:chExt cx="318173" cy="3496818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598932" y="25273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598932" y="30416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98932" y="35560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598932" y="40703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98932" y="45847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598932" y="50990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598932" y="56134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chemeClr val="accent2"/>
                    </a:solidFill>
                    <a:latin typeface="+mn-lt"/>
                    <a:ea typeface="+mn-ea"/>
                    <a:cs typeface="+mn-cs"/>
                  </a:rPr>
                  <a:t>✓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979932" y="2527300"/>
              <a:ext cx="5597652" cy="3496818"/>
              <a:chOff x="979932" y="2527300"/>
              <a:chExt cx="5597652" cy="3496818"/>
            </a:xfrm>
          </p:grpSpPr>
          <p:sp>
            <p:nvSpPr>
              <p:cNvPr id="15" name="TextBox 15"/>
              <p:cNvSpPr txBox="1"/>
              <p:nvPr/>
            </p:nvSpPr>
            <p:spPr>
              <a:xfrm>
                <a:off x="979932" y="2527300"/>
                <a:ext cx="5033236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Groups per event or item, not Clients.All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79932" y="3041650"/>
                <a:ext cx="5597652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Take identity from Context, never arguments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79932" y="3556000"/>
                <a:ext cx="4858108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Broadcast only what everyone may see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9932" y="4070350"/>
                <a:ext cx="4180040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Resync state after onreconnected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79932" y="4584700"/>
                <a:ext cx="454899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Detailed errors in Development only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979932" y="5099050"/>
                <a:ext cx="4797924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Keep hub methods short and stateless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9932" y="5613400"/>
                <a:ext cx="532892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Plan scale-out: sticky sessions + backplane</a:t>
                </a:r>
              </a:p>
            </p:txBody>
          </p:sp>
        </p:grpSp>
      </p:grpSp>
      <p:sp>
        <p:nvSpPr>
          <p:cNvPr id="24" name="Line 24"/>
          <p:cNvSpPr/>
          <p:nvPr/>
        </p:nvSpPr>
        <p:spPr>
          <a:xfrm>
            <a:off x="7620000" y="1809750"/>
            <a:ext cx="9525" cy="4248150"/>
          </a:xfrm>
          <a:custGeom>
            <a:avLst/>
            <a:gdLst/>
            <a:ahLst/>
            <a:cxnLst/>
            <a:rect l="l" t="t" r="r" b="b"/>
            <a:pathLst>
              <a:path w="9525" h="4248150">
                <a:moveTo>
                  <a:pt x="0" y="0"/>
                </a:moveTo>
                <a:lnTo>
                  <a:pt x="0" y="424815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avoid-list"/>
          <p:cNvGrpSpPr/>
          <p:nvPr/>
        </p:nvGrpSpPr>
        <p:grpSpPr>
          <a:xfrm>
            <a:off x="7910322" y="1797050"/>
            <a:ext cx="3672078" cy="3929507"/>
            <a:chOff x="7910322" y="1797050"/>
            <a:chExt cx="3672078" cy="3929507"/>
          </a:xfrm>
        </p:grpSpPr>
        <p:sp>
          <p:nvSpPr>
            <p:cNvPr id="25" name="TextBox 25"/>
            <p:cNvSpPr txBox="1"/>
            <p:nvPr/>
          </p:nvSpPr>
          <p:spPr>
            <a:xfrm>
              <a:off x="7910322" y="1797050"/>
              <a:ext cx="1081707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2850" dirty="0">
                  <a:solidFill>
                    <a:srgbClr val="B36A13"/>
                  </a:solidFill>
                  <a:latin typeface="+mj-lt"/>
                  <a:ea typeface="+mj-ea"/>
                  <a:cs typeface="+mj-cs"/>
                </a:rPr>
                <a:t>Avoid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924800" y="2324100"/>
              <a:ext cx="3657600" cy="9525"/>
            </a:xfrm>
            <a:custGeom>
              <a:avLst/>
              <a:gdLst/>
              <a:ahLst/>
              <a:cxnLst/>
              <a:rect l="l" t="t" r="r" b="b"/>
              <a:pathLst>
                <a:path w="3657600" h="9525">
                  <a:moveTo>
                    <a:pt x="0" y="0"/>
                  </a:moveTo>
                  <a:lnTo>
                    <a:pt x="3657600" y="0"/>
                  </a:lnTo>
                </a:path>
              </a:pathLst>
            </a:custGeom>
            <a:noFill/>
            <a:ln w="19050">
              <a:solidFill>
                <a:srgbClr val="B36A13"/>
              </a:solidFill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914132" y="2527300"/>
              <a:ext cx="318173" cy="1439418"/>
              <a:chOff x="7914132" y="2527300"/>
              <a:chExt cx="318173" cy="1439418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914132" y="25273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rgbClr val="B36A13"/>
                    </a:solidFill>
                    <a:latin typeface="+mn-lt"/>
                    <a:ea typeface="+mn-ea"/>
                    <a:cs typeface="+mn-cs"/>
                  </a:rPr>
                  <a:t>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914132" y="304165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rgbClr val="B36A13"/>
                    </a:solidFill>
                    <a:latin typeface="+mn-lt"/>
                    <a:ea typeface="+mn-ea"/>
                    <a:cs typeface="+mn-cs"/>
                  </a:rPr>
                  <a:t>✕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914132" y="3556000"/>
                <a:ext cx="318173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b="1" dirty="0">
                    <a:solidFill>
                      <a:srgbClr val="B36A13"/>
                    </a:solidFill>
                    <a:latin typeface="+mn-lt"/>
                    <a:ea typeface="+mn-ea"/>
                    <a:cs typeface="+mn-cs"/>
                  </a:rPr>
                  <a:t>✕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8295132" y="2527300"/>
              <a:ext cx="3197899" cy="1782318"/>
              <a:chOff x="8295132" y="2527300"/>
              <a:chExt cx="3197899" cy="1782318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8295132" y="2527300"/>
                <a:ext cx="3197899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Trusting ids in arguments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295132" y="3041650"/>
                <a:ext cx="2775587" cy="4107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Leaking private values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8295132" y="3556000"/>
                <a:ext cx="2759625" cy="75361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>
                  <a:lnSpc>
                    <a:spcPts val="2700"/>
                  </a:lnSpc>
                </a:pPr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Assuming reconnect</a:t>
                </a:r>
                <a:b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</a:br>
                <a:r>
                  <a:rPr lang="en" sz="21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replays missed updates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7916418" y="5118100"/>
              <a:ext cx="2747410" cy="6084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Geronimo today: Clients.All,</a:t>
              </a:r>
              <a:b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en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bidderId argument, no resync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603504" y="6362700"/>
            <a:ext cx="10984992" cy="234696"/>
            <a:chOff x="603504" y="6362700"/>
            <a:chExt cx="10984992" cy="234696"/>
          </a:xfrm>
        </p:grpSpPr>
        <p:sp>
          <p:nvSpPr>
            <p:cNvPr id="37" name="TextBox 37"/>
            <p:cNvSpPr txBox="1"/>
            <p:nvPr/>
          </p:nvSpPr>
          <p:spPr>
            <a:xfrm>
              <a:off x="603504" y="6362700"/>
              <a:ext cx="24491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SignalR — More Than WebSocket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402127" y="6362700"/>
              <a:ext cx="1863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kicker"/>
          <p:cNvGrpSpPr/>
          <p:nvPr/>
        </p:nvGrpSpPr>
        <p:grpSpPr>
          <a:xfrm>
            <a:off x="601980" y="1028700"/>
            <a:ext cx="1368670" cy="293370"/>
            <a:chOff x="601980" y="1028700"/>
            <a:chExt cx="1368670" cy="293370"/>
          </a:xfrm>
        </p:grpSpPr>
        <p:sp>
          <p:nvSpPr>
            <p:cNvPr id="2" name="TextBox 2"/>
            <p:cNvSpPr txBox="1"/>
            <p:nvPr/>
          </p:nvSpPr>
          <p:spPr>
            <a:xfrm>
              <a:off x="601980" y="1028700"/>
              <a:ext cx="13686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5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Demo &amp; Q&amp;A</a:t>
              </a:r>
            </a:p>
          </p:txBody>
        </p:sp>
      </p:grpSp>
      <p:grpSp>
        <p:nvGrpSpPr>
          <p:cNvPr id="5" name="takeaway"/>
          <p:cNvGrpSpPr/>
          <p:nvPr/>
        </p:nvGrpSpPr>
        <p:grpSpPr>
          <a:xfrm>
            <a:off x="590550" y="1638300"/>
            <a:ext cx="7962138" cy="1343025"/>
            <a:chOff x="590550" y="1638300"/>
            <a:chExt cx="7962138" cy="1343025"/>
          </a:xfrm>
        </p:grpSpPr>
        <p:sp>
          <p:nvSpPr>
            <p:cNvPr id="4" name="TextBox 4"/>
            <p:cNvSpPr txBox="1"/>
            <p:nvPr/>
          </p:nvSpPr>
          <p:spPr>
            <a:xfrm>
              <a:off x="590550" y="1638300"/>
              <a:ext cx="7962138" cy="13430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800"/>
                </a:lnSpc>
              </a:pPr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SignalR moves the message.</a:t>
              </a:r>
              <a:b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</a:br>
              <a:r>
                <a:rPr lang="en" sz="3750" dirty="0">
                  <a:solidFill>
                    <a:schemeClr val="accent3"/>
                  </a:solidFill>
                  <a:latin typeface="+mj-lt"/>
                  <a:ea typeface="+mj-ea"/>
                  <a:cs typeface="+mj-cs"/>
                </a:rPr>
                <a:t>You</a:t>
              </a:r>
              <a:r>
                <a:rPr lang="en" sz="3750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 xml:space="preserve"> own who sends it and what it says.</a:t>
              </a:r>
            </a:p>
          </p:txBody>
        </p:sp>
      </p:grpSp>
      <p:sp>
        <p:nvSpPr>
          <p:cNvPr id="6" name="Line 6"/>
          <p:cNvSpPr/>
          <p:nvPr/>
        </p:nvSpPr>
        <p:spPr>
          <a:xfrm>
            <a:off x="609600" y="32004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609600" y="3543300"/>
            <a:ext cx="4000500" cy="762000"/>
          </a:xfrm>
          <a:prstGeom prst="chevron">
            <a:avLst/>
          </a:prstGeom>
          <a:solidFill>
            <a:schemeClr val="lt2"/>
          </a:solidFill>
          <a:ln w="14288">
            <a:solidFill>
              <a:schemeClr val="accent2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4229100" y="3543300"/>
            <a:ext cx="4000500" cy="762000"/>
          </a:xfrm>
          <a:prstGeom prst="chevron">
            <a:avLst/>
          </a:prstGeom>
          <a:solidFill>
            <a:schemeClr val="lt2"/>
          </a:solidFill>
          <a:ln w="14288">
            <a:solidFill>
              <a:schemeClr val="accent2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7848600" y="3543300"/>
            <a:ext cx="3733800" cy="762000"/>
          </a:xfrm>
          <a:prstGeom prst="chevron">
            <a:avLst/>
          </a:prstGeom>
          <a:solidFill>
            <a:srgbClr val="F1EBFD"/>
          </a:solidFill>
          <a:ln w="14288">
            <a:solidFill>
              <a:schemeClr val="accent3"/>
            </a:solidFill>
          </a:ln>
        </p:spPr>
      </p:sp>
      <p:grpSp>
        <p:nvGrpSpPr>
          <p:cNvPr id="18" name="scene-labels"/>
          <p:cNvGrpSpPr/>
          <p:nvPr/>
        </p:nvGrpSpPr>
        <p:grpSpPr>
          <a:xfrm>
            <a:off x="1586330" y="3797300"/>
            <a:ext cx="8999202" cy="991870"/>
            <a:chOff x="1586330" y="3797300"/>
            <a:chExt cx="8999202" cy="991870"/>
          </a:xfrm>
        </p:grpSpPr>
        <p:grpSp>
          <p:nvGrpSpPr>
            <p:cNvPr id="13" name="Group 13"/>
            <p:cNvGrpSpPr/>
            <p:nvPr/>
          </p:nvGrpSpPr>
          <p:grpSpPr>
            <a:xfrm>
              <a:off x="2013288" y="3797300"/>
              <a:ext cx="8391033" cy="322707"/>
              <a:chOff x="2013288" y="3797300"/>
              <a:chExt cx="8391033" cy="322707"/>
            </a:xfrm>
          </p:grpSpPr>
          <p:sp>
            <p:nvSpPr>
              <p:cNvPr id="10" name="TextBox 10"/>
              <p:cNvSpPr txBox="1"/>
              <p:nvPr/>
            </p:nvSpPr>
            <p:spPr>
              <a:xfrm>
                <a:off x="2013288" y="3797300"/>
                <a:ext cx="119312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1 · Connect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5888015" y="3797300"/>
                <a:ext cx="682670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2 · Bid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026678" y="3797300"/>
                <a:ext cx="137764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650" b="1" dirty="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rPr>
                  <a:t>3 · Go offline</a:t>
                </a:r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586330" y="4495800"/>
              <a:ext cx="8999202" cy="293370"/>
              <a:chOff x="1586330" y="4495800"/>
              <a:chExt cx="8999202" cy="293370"/>
            </a:xfrm>
          </p:grpSpPr>
          <p:sp>
            <p:nvSpPr>
              <p:cNvPr id="14" name="TextBox 14"/>
              <p:cNvSpPr txBox="1"/>
              <p:nvPr/>
            </p:nvSpPr>
            <p:spPr>
              <a:xfrm>
                <a:off x="1586330" y="4495800"/>
                <a:ext cx="204703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negotiate → handshake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5121578" y="4495800"/>
                <a:ext cx="2215543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8 steps, Ben updates last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45467" y="4495800"/>
                <a:ext cx="1740065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" sz="1500" dirty="0">
                    <a:solidFill>
                      <a:schemeClr val="accent5"/>
                    </a:solidFill>
                    <a:latin typeface="+mn-lt"/>
                    <a:ea typeface="+mn-ea"/>
                    <a:cs typeface="+mn-cs"/>
                  </a:rPr>
                  <a:t>retry 0 · 2 · 10 · 30 s</a:t>
                </a:r>
              </a:p>
            </p:txBody>
          </p:sp>
        </p:grpSp>
      </p:grpSp>
      <p:grpSp>
        <p:nvGrpSpPr>
          <p:cNvPr id="25" name="demo-link"/>
          <p:cNvGrpSpPr/>
          <p:nvPr/>
        </p:nvGrpSpPr>
        <p:grpSpPr>
          <a:xfrm>
            <a:off x="660400" y="5416550"/>
            <a:ext cx="10936478" cy="557403"/>
            <a:chOff x="660400" y="5416550"/>
            <a:chExt cx="10936478" cy="557403"/>
          </a:xfrm>
        </p:grpSpPr>
        <p:grpSp>
          <p:nvGrpSpPr>
            <p:cNvPr id="22" name="Group 22"/>
            <p:cNvGrpSpPr/>
            <p:nvPr/>
          </p:nvGrpSpPr>
          <p:grpSpPr>
            <a:xfrm>
              <a:off x="660400" y="5518150"/>
              <a:ext cx="203199" cy="203199"/>
              <a:chOff x="660400" y="5518150"/>
              <a:chExt cx="203199" cy="203199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660400" y="5568950"/>
                <a:ext cx="203199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9525">
                    <a:moveTo>
                      <a:pt x="0" y="0"/>
                    </a:moveTo>
                    <a:lnTo>
                      <a:pt x="203199" y="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660400" y="5518150"/>
                <a:ext cx="203199" cy="203199"/>
              </a:xfrm>
              <a:custGeom>
                <a:avLst/>
                <a:gdLst/>
                <a:ahLst/>
                <a:cxnLst/>
                <a:rect l="l" t="t" r="r" b="b"/>
                <a:pathLst>
                  <a:path w="203199" h="203199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77800" y="0"/>
                    </a:lnTo>
                    <a:cubicBezTo>
                      <a:pt x="191828" y="0"/>
                      <a:pt x="203199" y="11372"/>
                      <a:pt x="203199" y="25400"/>
                    </a:cubicBezTo>
                    <a:lnTo>
                      <a:pt x="203199" y="177800"/>
                    </a:lnTo>
                    <a:cubicBezTo>
                      <a:pt x="203199" y="191828"/>
                      <a:pt x="191828" y="203199"/>
                      <a:pt x="177800" y="203199"/>
                    </a:cubicBezTo>
                    <a:lnTo>
                      <a:pt x="25400" y="203199"/>
                    </a:lnTo>
                    <a:cubicBezTo>
                      <a:pt x="11372" y="203199"/>
                      <a:pt x="0" y="191828"/>
                      <a:pt x="0" y="1778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11200" y="551815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25400">
                <a:solidFill>
                  <a:schemeClr val="accent2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20318" y="5511800"/>
              <a:ext cx="472096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1650" dirty="0">
                  <a:solidFill>
                    <a:schemeClr val="accent1"/>
                  </a:solidFill>
                  <a:latin typeface="Consolas"/>
                  <a:ea typeface="Consolas"/>
                  <a:cs typeface="Consolas"/>
                </a:rPr>
                <a:t>SignalR BidLab · http://127.0.0.1:5080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724000" y="5416550"/>
              <a:ext cx="1872878" cy="5574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" sz="2850" i="1" dirty="0">
                  <a:solidFill>
                    <a:schemeClr val="accent1"/>
                  </a:solidFill>
                  <a:latin typeface="+mj-lt"/>
                  <a:ea typeface="+mj-ea"/>
                  <a:cs typeface="+mj-cs"/>
                </a:rPr>
                <a:t>Questions?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ignalr_sharing">
  <a:themeElements>
    <a:clrScheme name="signalr_sharing">
      <a:dk1>
        <a:srgbClr val="243B53"/>
      </a:dk1>
      <a:lt1>
        <a:srgbClr val="F7F9FC"/>
      </a:lt1>
      <a:dk2>
        <a:srgbClr val="1F497D"/>
      </a:dk2>
      <a:lt2>
        <a:srgbClr val="E8F4F8"/>
      </a:lt2>
      <a:accent1>
        <a:srgbClr val="102A43"/>
      </a:accent1>
      <a:accent2>
        <a:srgbClr val="007F9E"/>
      </a:accent2>
      <a:accent3>
        <a:srgbClr val="5B21B6"/>
      </a:accent3>
      <a:accent4>
        <a:srgbClr val="102A43"/>
      </a:accent4>
      <a:accent5>
        <a:srgbClr val="526B80"/>
      </a:accent5>
      <a:accent6>
        <a:srgbClr val="CAD7E2"/>
      </a:accent6>
      <a:hlink>
        <a:srgbClr val="007F9E"/>
      </a:hlink>
      <a:folHlink>
        <a:srgbClr val="5B21B6"/>
      </a:folHlink>
    </a:clrScheme>
    <a:fontScheme name="signalr_sharing">
      <a:majorFont>
        <a:latin typeface="Cambria"/>
        <a:ea typeface="SimSun"/>
        <a:cs typeface="Cambria"/>
        <a:font script="Jpan" typeface="SimSun"/>
        <a:font script="Hang" typeface="SimSun"/>
        <a:font script="Hans" typeface="SimSun"/>
        <a:font script="Hant" typeface="SimSun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gnalr_sharing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en</dc:language>
  <cp:lastModifiedBy/>
  <cp:revision>1</cp:revision>
  <dcterms:created xsi:type="dcterms:W3CDTF">2026-10-22T02:30:19Z</dcterms:created>
  <dcterms:modified xsi:type="dcterms:W3CDTF">2026-10-22T02:30:19Z</dcterms:modified>
  <cp:category/>
  <cp:contentStatus/>
</cp:coreProperties>
</file>